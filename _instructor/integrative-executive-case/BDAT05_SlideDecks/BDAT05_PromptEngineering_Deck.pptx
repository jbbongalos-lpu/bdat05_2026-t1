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Evergreen resource — post in the LMS, reference from any week. The framing to say aloud: this deck is not permission to outsource thinking; it is the protocol that makes AI use defensible at the viva.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Tier 3 resolution is the key move of this slide: this deck IS the standing written approval, conditional on the protocol. Say that explicitly. Red line 1 connects to the privacy clinic; red line 2 to the five gates.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Junior-analyst metaphor pays off all term: you would never let a new hire push straight to the repo — same standard here. The middle card is the scary one; every item in it has appeared in real student work somewhere.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map slide; each step gets its own slide next. The rail is the point: steps 1, 3, and 6 each produce a pasteable artifact for the ai-use-log — the audit trail builds itself if you work in order.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Live demo idea: send this brief, show the model acknowledging. Point at rule 3 — small blocks are what make line-by-line explanation (and the viva) possible. This message is also audit artifact #0: it goes in the log as the conversation starter.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five chips ARE a prompt template: context / data / goal / constraints / deliverable. Students paste all five as message #2, right after the brief. The example shown is the OPS slice — each student substitutes their own track.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single highest-leverage habit in the deck. Connect to P1 grading: a model told to plan first will surface the same grain and leakage questions the rubric asks — students literally hear their rubric read back to them by the machine.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Short slide by design — a breather between two heavy ones. The Restart &amp; Run all callback lands because they met it in Session 3. “Approved.” at the start of the prompt models the step-3 gate being passed.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Route B is what they use for the class Drive folder (right-click file → Share → copy link → FILE_ID is the long token). The handshake cells mirror Session 3 exactly. The maroon band is the single most important sentence for the HR track.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 to Session 3: validate() findings feed the cleaning prompt verbatim. “Check it your own way” = recount by a second route (groupby another key, a hand total of one branch, a filter count). The verification is theirs, never the model’s.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Course stack is matplotlib now, seaborn arrives in Week 4 — the prompt pattern is identical. The third rule is a verification device disguised as a convenience: model-reads-chart is a free second opinion you then audit.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APA 7: figure number bold, title italic below it, Note. under the figure. Stats sentence: statistic italic, two decimals, exact p to three decimals unless &lt; .001. The left card is correct on purpose — students can pattern-match against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card is a reusable prompt. Card 3 is not an AI technique at all — deliberately: the strongest verification is model-free. Card 4 previews the leakage audit formally arriving with P3/pipelines.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template lives in each student folder (ai-use-log.md, in the repo scaffold). The “kept / changed” row is the pedagogical heart: a log full of “kept everything” is itself a red flag — supervision leaves fingerprints.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Habit 9 is the one nobody teaches: long chats degrade — the model forgets the brief and the schema. The professional move is a fresh conversation seeded with a two-line summary and the current df.info(). Habit 10 closes the loop back to slide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5C10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00584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BDAT05 · COURSE RESOURCE · KEEP THIS OPEN WHENEVER AN LLM IS OPEN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1371600"/>
            <a:ext cx="10789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Auditable Prompt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548640" y="24688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D9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 for predictive analytics — using LLMs correctly, verifiably, and on the record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48640" y="3474720"/>
            <a:ext cx="566928" cy="566928"/>
          </a:xfrm>
          <a:prstGeom prst="ellipse">
            <a:avLst/>
          </a:prstGeom>
          <a:solidFill>
            <a:srgbClr val="8A1626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6041" y="3622121"/>
            <a:ext cx="272125" cy="272125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325880" y="3474720"/>
            <a:ext cx="566928" cy="566928"/>
          </a:xfrm>
          <a:prstGeom prst="ellipse">
            <a:avLst/>
          </a:prstGeom>
          <a:solidFill>
            <a:srgbClr val="8A1626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3281" y="3622121"/>
            <a:ext cx="272125" cy="272125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2103120" y="3474720"/>
            <a:ext cx="566928" cy="566928"/>
          </a:xfrm>
          <a:prstGeom prst="ellipse">
            <a:avLst/>
          </a:prstGeom>
          <a:solidFill>
            <a:srgbClr val="8A1626"/>
          </a:solidFill>
          <a:ln/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50521" y="3622121"/>
            <a:ext cx="272125" cy="272125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2880360" y="3474720"/>
            <a:ext cx="566928" cy="566928"/>
          </a:xfrm>
          <a:prstGeom prst="ellipse">
            <a:avLst/>
          </a:prstGeom>
          <a:solidFill>
            <a:srgbClr val="8A1626"/>
          </a:solidFill>
          <a:ln/>
        </p:spPr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27761" y="3622121"/>
            <a:ext cx="272125" cy="272125"/>
          </a:xfrm>
          <a:prstGeom prst="rect">
            <a:avLst/>
          </a:prstGeom>
        </p:spPr>
      </p:pic>
      <p:sp>
        <p:nvSpPr>
          <p:cNvPr id="13" name="Shape 7"/>
          <p:cNvSpPr/>
          <p:nvPr/>
        </p:nvSpPr>
        <p:spPr>
          <a:xfrm>
            <a:off x="3657600" y="3474720"/>
            <a:ext cx="566928" cy="566928"/>
          </a:xfrm>
          <a:prstGeom prst="ellipse">
            <a:avLst/>
          </a:prstGeom>
          <a:solidFill>
            <a:srgbClr val="8A1626"/>
          </a:solidFill>
          <a:ln/>
        </p:spPr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05001" y="3622121"/>
            <a:ext cx="272125" cy="272125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548640" y="4160520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79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Brief the assistant  ·  Frame the task  ·  Plan before code  ·  Verify everything  ·  Log everything</a:t>
            </a:r>
            <a:endParaRPr lang="en-US" sz="1250" dirty="0"/>
          </a:p>
        </p:txBody>
      </p:sp>
      <p:sp>
        <p:nvSpPr>
          <p:cNvPr id="16" name="Text 9"/>
          <p:cNvSpPr/>
          <p:nvPr/>
        </p:nvSpPr>
        <p:spPr>
          <a:xfrm>
            <a:off x="548640" y="4754880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“An LLM is a junior analyst who never sleeps and never doubts itself. You are its supervisor — and the supervisor signs the work.”</a:t>
            </a:r>
            <a:endParaRPr lang="en-US" sz="1700" dirty="0"/>
          </a:p>
        </p:txBody>
      </p:sp>
      <p:sp>
        <p:nvSpPr>
          <p:cNvPr id="17" name="Text 10"/>
          <p:cNvSpPr/>
          <p:nvPr/>
        </p:nvSpPr>
        <p:spPr>
          <a:xfrm>
            <a:off x="7498080" y="5760720"/>
            <a:ext cx="41422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Jerald B. Bongalos</a:t>
            </a:r>
            <a:endParaRPr lang="en-US" sz="1400" dirty="0"/>
          </a:p>
          <a:p>
            <a:pPr algn="r" indent="0" marL="0">
              <a:buNone/>
            </a:pPr>
            <a:r>
              <a:rPr lang="en-US" sz="1150" dirty="0">
                <a:solidFill>
                  <a:srgbClr val="EBD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BDAT05 — Fundamentals of Predictive Analytics · LPU–Laguna CBA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5105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5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BDAT05 · The Auditable Prompt · 2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61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ANYTHING ELSE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76656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6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rules of engagement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2622042" cy="2240280"/>
          </a:xfrm>
          <a:prstGeom prst="roundRect">
            <a:avLst>
              <a:gd name="adj" fmla="val 3265"/>
            </a:avLst>
          </a:prstGeom>
          <a:solidFill>
            <a:srgbClr val="F5F4F4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1627632"/>
            <a:ext cx="868680" cy="329184"/>
          </a:xfrm>
          <a:prstGeom prst="roundRect">
            <a:avLst>
              <a:gd name="adj" fmla="val 33333"/>
            </a:avLst>
          </a:prstGeom>
          <a:solidFill>
            <a:srgbClr val="A6192E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627632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31520" y="2048256"/>
            <a:ext cx="225628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61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Permitted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2359152"/>
            <a:ext cx="225628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050" b="1" dirty="0">
                <a:solidFill>
                  <a:srgbClr val="2B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disclosure needed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31520" y="2852928"/>
            <a:ext cx="225628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2B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Grammar fixes · autocomplete · translating instructions.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371850" y="1463040"/>
            <a:ext cx="2622042" cy="2240280"/>
          </a:xfrm>
          <a:prstGeom prst="roundRect">
            <a:avLst>
              <a:gd name="adj" fmla="val 3265"/>
            </a:avLst>
          </a:prstGeom>
          <a:solidFill>
            <a:srgbClr val="FBF1F2"/>
          </a:solidFill>
          <a:ln/>
        </p:spPr>
      </p:sp>
      <p:sp>
        <p:nvSpPr>
          <p:cNvPr id="12" name="Shape 10"/>
          <p:cNvSpPr/>
          <p:nvPr/>
        </p:nvSpPr>
        <p:spPr>
          <a:xfrm>
            <a:off x="3554730" y="1627632"/>
            <a:ext cx="868680" cy="329184"/>
          </a:xfrm>
          <a:prstGeom prst="roundRect">
            <a:avLst>
              <a:gd name="adj" fmla="val 33333"/>
            </a:avLst>
          </a:prstGeom>
          <a:solidFill>
            <a:srgbClr val="A6192E"/>
          </a:solidFill>
          <a:ln/>
        </p:spPr>
      </p:sp>
      <p:sp>
        <p:nvSpPr>
          <p:cNvPr id="13" name="Text 11"/>
          <p:cNvSpPr/>
          <p:nvPr/>
        </p:nvSpPr>
        <p:spPr>
          <a:xfrm>
            <a:off x="3554730" y="1627632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554730" y="2048256"/>
            <a:ext cx="225628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61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Permitted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554730" y="2359152"/>
            <a:ext cx="225628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050" b="1" dirty="0">
                <a:solidFill>
                  <a:srgbClr val="2B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disclosure in your AI-use log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554730" y="2852928"/>
            <a:ext cx="225628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2B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Brainstorming · explaining errors · suggesting a library · reviewing code YOU wrote.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195060" y="1463040"/>
            <a:ext cx="2622042" cy="2240280"/>
          </a:xfrm>
          <a:prstGeom prst="roundRect">
            <a:avLst>
              <a:gd name="adj" fmla="val 3265"/>
            </a:avLst>
          </a:prstGeom>
          <a:solidFill>
            <a:srgbClr val="F3E3C0"/>
          </a:solidFill>
          <a:ln/>
        </p:spPr>
      </p:sp>
      <p:sp>
        <p:nvSpPr>
          <p:cNvPr id="18" name="Shape 16"/>
          <p:cNvSpPr/>
          <p:nvPr/>
        </p:nvSpPr>
        <p:spPr>
          <a:xfrm>
            <a:off x="6377940" y="1627632"/>
            <a:ext cx="868680" cy="329184"/>
          </a:xfrm>
          <a:prstGeom prst="roundRect">
            <a:avLst>
              <a:gd name="adj" fmla="val 33333"/>
            </a:avLst>
          </a:prstGeom>
          <a:solidFill>
            <a:srgbClr val="A6192E"/>
          </a:solidFill>
          <a:ln/>
        </p:spPr>
      </p:sp>
      <p:sp>
        <p:nvSpPr>
          <p:cNvPr id="19" name="Text 17"/>
          <p:cNvSpPr/>
          <p:nvPr/>
        </p:nvSpPr>
        <p:spPr>
          <a:xfrm>
            <a:off x="6377940" y="1627632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3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377940" y="2048256"/>
            <a:ext cx="225628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61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Restricted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377940" y="2359152"/>
            <a:ext cx="225628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050" b="1" dirty="0">
                <a:solidFill>
                  <a:srgbClr val="2B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written approval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377940" y="2852928"/>
            <a:ext cx="225628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2B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AI-generated code that materially produces the analysis · synthetic data · drafting analytical prose.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9018270" y="1463040"/>
            <a:ext cx="2622042" cy="2240280"/>
          </a:xfrm>
          <a:prstGeom prst="roundRect">
            <a:avLst>
              <a:gd name="adj" fmla="val 3265"/>
            </a:avLst>
          </a:prstGeom>
          <a:solidFill>
            <a:srgbClr val="5C101D"/>
          </a:solidFill>
          <a:ln/>
        </p:spPr>
      </p:sp>
      <p:sp>
        <p:nvSpPr>
          <p:cNvPr id="24" name="Shape 22"/>
          <p:cNvSpPr/>
          <p:nvPr/>
        </p:nvSpPr>
        <p:spPr>
          <a:xfrm>
            <a:off x="9201150" y="1627632"/>
            <a:ext cx="868680" cy="329184"/>
          </a:xfrm>
          <a:prstGeom prst="roundRect">
            <a:avLst>
              <a:gd name="adj" fmla="val 33333"/>
            </a:avLst>
          </a:prstGeom>
          <a:solidFill>
            <a:srgbClr val="C9A227"/>
          </a:solidFill>
          <a:ln/>
        </p:spPr>
      </p:sp>
      <p:sp>
        <p:nvSpPr>
          <p:cNvPr id="25" name="Text 23"/>
          <p:cNvSpPr/>
          <p:nvPr/>
        </p:nvSpPr>
        <p:spPr>
          <a:xfrm>
            <a:off x="9201150" y="1627632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B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4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9201150" y="2048256"/>
            <a:ext cx="225628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Prohibited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9201150" y="2359152"/>
            <a:ext cx="225628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dishonesty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9201150" y="2852928"/>
            <a:ext cx="225628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reasoning submitted as yours · unverified citations · AI in assessments · uploading personal data.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548640" y="3913632"/>
            <a:ext cx="11091672" cy="1051560"/>
          </a:xfrm>
          <a:prstGeom prst="roundRect">
            <a:avLst>
              <a:gd name="adj" fmla="val 6957"/>
            </a:avLst>
          </a:prstGeom>
          <a:solidFill>
            <a:srgbClr val="F3E3C0"/>
          </a:solidFill>
          <a:ln/>
        </p:spPr>
      </p:sp>
      <p:sp>
        <p:nvSpPr>
          <p:cNvPr id="30" name="Text 28"/>
          <p:cNvSpPr/>
          <p:nvPr/>
        </p:nvSpPr>
        <p:spPr>
          <a:xfrm>
            <a:off x="822960" y="4050792"/>
            <a:ext cx="105430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8A6A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this deck lives: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B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model-drafted analysis code is Tier 3. In BDAT05 it is approved — but ONLY worked this way: brief → frame → plan → verify → log. </a:t>
            </a:r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A61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work without the log is Tier 4.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548640" y="5120640"/>
            <a:ext cx="11091672" cy="1051560"/>
          </a:xfrm>
          <a:prstGeom prst="roundRect">
            <a:avLst>
              <a:gd name="adj" fmla="val 6957"/>
            </a:avLst>
          </a:prstGeom>
          <a:solidFill>
            <a:srgbClr val="5C101D"/>
          </a:solidFill>
          <a:ln/>
        </p:spPr>
      </p:sp>
      <p:sp>
        <p:nvSpPr>
          <p:cNvPr id="32" name="Text 30"/>
          <p:cNvSpPr/>
          <p:nvPr/>
        </p:nvSpPr>
        <p:spPr>
          <a:xfrm>
            <a:off x="822960" y="5257800"/>
            <a:ext cx="105430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red lines, never crossed: 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(1) real data rows NEVER go into a chat — schema yes, data no (RA 10173).  (2) Nothing you cannot explain line-by-line gets committed — the authentication gates do not care who typed it.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5105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5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BDAT05 · The Auditable Prompt · 3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61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MENTAL MODEL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76656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6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junior analyst, not an oracle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2B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“Vibe coding” — describing what you want and letting the model write it — is real professional practice now. It fails in only one situation: when nobody checks. So in this course, somebody always checks. You.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48640" y="2194560"/>
            <a:ext cx="3514344" cy="2651760"/>
          </a:xfrm>
          <a:prstGeom prst="roundRect">
            <a:avLst>
              <a:gd name="adj" fmla="val 2759"/>
            </a:avLst>
          </a:prstGeom>
          <a:solidFill>
            <a:srgbClr val="FBF1F2"/>
          </a:solidFill>
          <a:ln/>
        </p:spPr>
      </p:sp>
      <p:sp>
        <p:nvSpPr>
          <p:cNvPr id="7" name="Shape 5"/>
          <p:cNvSpPr/>
          <p:nvPr/>
        </p:nvSpPr>
        <p:spPr>
          <a:xfrm>
            <a:off x="804672" y="2450592"/>
            <a:ext cx="502920" cy="502920"/>
          </a:xfrm>
          <a:prstGeom prst="ellipse">
            <a:avLst/>
          </a:prstGeom>
          <a:solidFill>
            <a:srgbClr val="A6192E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5431" y="2581351"/>
            <a:ext cx="241402" cy="24140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04672" y="3090672"/>
            <a:ext cx="3002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A61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is great at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804672" y="3474720"/>
            <a:ext cx="3002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2B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Syntax you have not memorized · boilerplate · explaining errors · translating your intent into pandas · tireless first drafts of anything.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337304" y="2194560"/>
            <a:ext cx="3514344" cy="2651760"/>
          </a:xfrm>
          <a:prstGeom prst="roundRect">
            <a:avLst>
              <a:gd name="adj" fmla="val 2759"/>
            </a:avLst>
          </a:prstGeom>
          <a:solidFill>
            <a:srgbClr val="F3E3C0"/>
          </a:solidFill>
          <a:ln/>
        </p:spPr>
      </p:sp>
      <p:sp>
        <p:nvSpPr>
          <p:cNvPr id="12" name="Shape 9"/>
          <p:cNvSpPr/>
          <p:nvPr/>
        </p:nvSpPr>
        <p:spPr>
          <a:xfrm>
            <a:off x="4593336" y="2450592"/>
            <a:ext cx="502920" cy="502920"/>
          </a:xfrm>
          <a:prstGeom prst="ellipse">
            <a:avLst/>
          </a:prstGeom>
          <a:solidFill>
            <a:srgbClr val="A6192E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4095" y="2581351"/>
            <a:ext cx="241402" cy="24140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593336" y="3090672"/>
            <a:ext cx="3002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A61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it fails silently</a:t>
            </a:r>
            <a:endParaRPr lang="en-US" sz="1450" dirty="0"/>
          </a:p>
        </p:txBody>
      </p:sp>
      <p:sp>
        <p:nvSpPr>
          <p:cNvPr id="15" name="Text 11"/>
          <p:cNvSpPr/>
          <p:nvPr/>
        </p:nvSpPr>
        <p:spPr>
          <a:xfrm>
            <a:off x="4593336" y="3474720"/>
            <a:ext cx="3002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2B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Invents columns that do not exist · drops rows without telling you · picks plausible-but-wrong methods · fabricates citations · agrees with your mistakes.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8125968" y="2194560"/>
            <a:ext cx="3514344" cy="2651760"/>
          </a:xfrm>
          <a:prstGeom prst="roundRect">
            <a:avLst>
              <a:gd name="adj" fmla="val 2759"/>
            </a:avLst>
          </a:prstGeom>
          <a:solidFill>
            <a:srgbClr val="F5F4F4"/>
          </a:solidFill>
          <a:ln/>
        </p:spPr>
      </p:sp>
      <p:sp>
        <p:nvSpPr>
          <p:cNvPr id="17" name="Shape 13"/>
          <p:cNvSpPr/>
          <p:nvPr/>
        </p:nvSpPr>
        <p:spPr>
          <a:xfrm>
            <a:off x="8382000" y="2450592"/>
            <a:ext cx="502920" cy="502920"/>
          </a:xfrm>
          <a:prstGeom prst="ellipse">
            <a:avLst/>
          </a:prstGeom>
          <a:solidFill>
            <a:srgbClr val="A6192E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2759" y="2581351"/>
            <a:ext cx="241402" cy="24140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382000" y="3090672"/>
            <a:ext cx="3002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A61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job — supervision</a:t>
            </a:r>
            <a:endParaRPr lang="en-US" sz="1450" dirty="0"/>
          </a:p>
        </p:txBody>
      </p:sp>
      <p:sp>
        <p:nvSpPr>
          <p:cNvPr id="20" name="Text 15"/>
          <p:cNvSpPr/>
          <p:nvPr/>
        </p:nvSpPr>
        <p:spPr>
          <a:xfrm>
            <a:off x="8382000" y="3474720"/>
            <a:ext cx="3002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2B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Brief it. Approve its plan. Run its code. Verify its numbers by another route. Reject fluency without evidence. Sign only what you can defend.</a:t>
            </a:r>
            <a:endParaRPr lang="en-US" sz="1150" dirty="0"/>
          </a:p>
        </p:txBody>
      </p:sp>
      <p:sp>
        <p:nvSpPr>
          <p:cNvPr id="21" name="Shape 16"/>
          <p:cNvSpPr/>
          <p:nvPr/>
        </p:nvSpPr>
        <p:spPr>
          <a:xfrm>
            <a:off x="548640" y="5120640"/>
            <a:ext cx="11091672" cy="1005840"/>
          </a:xfrm>
          <a:prstGeom prst="roundRect">
            <a:avLst>
              <a:gd name="adj" fmla="val 7273"/>
            </a:avLst>
          </a:prstGeom>
          <a:solidFill>
            <a:srgbClr val="5C101D"/>
          </a:solidFill>
          <a:ln/>
        </p:spPr>
      </p:sp>
      <p:sp>
        <p:nvSpPr>
          <p:cNvPr id="22" name="Text 17"/>
          <p:cNvSpPr/>
          <p:nvPr/>
        </p:nvSpPr>
        <p:spPr>
          <a:xfrm>
            <a:off x="822960" y="5257800"/>
            <a:ext cx="105430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course rule, one sentence:  </a:t>
            </a:r>
            <a:pPr indent="0" marL="0">
              <a:lnSpc>
                <a:spcPct val="115000"/>
              </a:lnSpc>
              <a:buNone/>
            </a:pPr>
            <a:r>
              <a:rPr lang="en-US" sz="13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“If you cannot explain a line, you cannot submit it.” The model’s confidence is not evidence. Your verification is.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5105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5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BDAT05 · The Auditable Prompt · 4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61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PROTOCOL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76656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6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Seven steps, every project, no exceptions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481328"/>
            <a:ext cx="9784080" cy="566928"/>
          </a:xfrm>
          <a:prstGeom prst="roundRect">
            <a:avLst>
              <a:gd name="adj" fmla="val 12903"/>
            </a:avLst>
          </a:prstGeom>
          <a:solidFill>
            <a:srgbClr val="FBF1F2"/>
          </a:solidFill>
          <a:ln/>
        </p:spPr>
      </p:sp>
      <p:sp>
        <p:nvSpPr>
          <p:cNvPr id="6" name="Shape 4"/>
          <p:cNvSpPr/>
          <p:nvPr/>
        </p:nvSpPr>
        <p:spPr>
          <a:xfrm>
            <a:off x="685800" y="1563624"/>
            <a:ext cx="402336" cy="402336"/>
          </a:xfrm>
          <a:prstGeom prst="ellipse">
            <a:avLst/>
          </a:prstGeom>
          <a:solidFill>
            <a:srgbClr val="A6192E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56362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261872" y="1481328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61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 the assistant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0" y="1481328"/>
            <a:ext cx="5577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2B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standing brief that sets role, stack, and working rules — before any task.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2121408"/>
            <a:ext cx="9784080" cy="566928"/>
          </a:xfrm>
          <a:prstGeom prst="roundRect">
            <a:avLst>
              <a:gd name="adj" fmla="val 12903"/>
            </a:avLst>
          </a:prstGeom>
          <a:solidFill>
            <a:srgbClr val="F5F4F4"/>
          </a:solidFill>
          <a:ln/>
        </p:spPr>
      </p:sp>
      <p:sp>
        <p:nvSpPr>
          <p:cNvPr id="11" name="Shape 9"/>
          <p:cNvSpPr/>
          <p:nvPr/>
        </p:nvSpPr>
        <p:spPr>
          <a:xfrm>
            <a:off x="685800" y="2203704"/>
            <a:ext cx="402336" cy="402336"/>
          </a:xfrm>
          <a:prstGeom prst="ellipse">
            <a:avLst/>
          </a:prstGeom>
          <a:solidFill>
            <a:srgbClr val="A6192E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220370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261872" y="2121408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61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 the task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0" y="2121408"/>
            <a:ext cx="5577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2B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P1 canvas becomes the prompt: decision, grain, target, horizon, constraints.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2761488"/>
            <a:ext cx="9784080" cy="566928"/>
          </a:xfrm>
          <a:prstGeom prst="roundRect">
            <a:avLst>
              <a:gd name="adj" fmla="val 12903"/>
            </a:avLst>
          </a:prstGeom>
          <a:solidFill>
            <a:srgbClr val="FBF1F2"/>
          </a:solidFill>
          <a:ln/>
        </p:spPr>
      </p:sp>
      <p:sp>
        <p:nvSpPr>
          <p:cNvPr id="16" name="Shape 14"/>
          <p:cNvSpPr/>
          <p:nvPr/>
        </p:nvSpPr>
        <p:spPr>
          <a:xfrm>
            <a:off x="685800" y="2843784"/>
            <a:ext cx="402336" cy="402336"/>
          </a:xfrm>
          <a:prstGeom prst="ellipse">
            <a:avLst/>
          </a:prstGeom>
          <a:solidFill>
            <a:srgbClr val="A6192E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" y="284378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261872" y="2761488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61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for the plan — not code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572000" y="2761488"/>
            <a:ext cx="5577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2B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restates the problem and proposes numbered steps. You approve or correct.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3401568"/>
            <a:ext cx="9784080" cy="566928"/>
          </a:xfrm>
          <a:prstGeom prst="roundRect">
            <a:avLst>
              <a:gd name="adj" fmla="val 12903"/>
            </a:avLst>
          </a:prstGeom>
          <a:solidFill>
            <a:srgbClr val="F5F4F4"/>
          </a:solidFill>
          <a:ln/>
        </p:spPr>
      </p:sp>
      <p:sp>
        <p:nvSpPr>
          <p:cNvPr id="21" name="Shape 19"/>
          <p:cNvSpPr/>
          <p:nvPr/>
        </p:nvSpPr>
        <p:spPr>
          <a:xfrm>
            <a:off x="685800" y="3483864"/>
            <a:ext cx="402336" cy="402336"/>
          </a:xfrm>
          <a:prstGeom prst="ellipse">
            <a:avLst/>
          </a:prstGeom>
          <a:solidFill>
            <a:srgbClr val="A6192E"/>
          </a:solidFill>
          <a:ln/>
        </p:spPr>
      </p:sp>
      <p:sp>
        <p:nvSpPr>
          <p:cNvPr id="22" name="Text 20"/>
          <p:cNvSpPr/>
          <p:nvPr/>
        </p:nvSpPr>
        <p:spPr>
          <a:xfrm>
            <a:off x="685800" y="348386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261872" y="3401568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61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up the environment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572000" y="3401568"/>
            <a:ext cx="5577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2B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Colab cell: imports, display options, versions printed for reproducibility.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48640" y="4041648"/>
            <a:ext cx="9784080" cy="566928"/>
          </a:xfrm>
          <a:prstGeom prst="roundRect">
            <a:avLst>
              <a:gd name="adj" fmla="val 12903"/>
            </a:avLst>
          </a:prstGeom>
          <a:solidFill>
            <a:srgbClr val="FBF1F2"/>
          </a:solidFill>
          <a:ln/>
        </p:spPr>
      </p:sp>
      <p:sp>
        <p:nvSpPr>
          <p:cNvPr id="26" name="Shape 24"/>
          <p:cNvSpPr/>
          <p:nvPr/>
        </p:nvSpPr>
        <p:spPr>
          <a:xfrm>
            <a:off x="685800" y="4123944"/>
            <a:ext cx="402336" cy="402336"/>
          </a:xfrm>
          <a:prstGeom prst="ellipse">
            <a:avLst/>
          </a:prstGeom>
          <a:solidFill>
            <a:srgbClr val="A6192E"/>
          </a:solidFill>
          <a:ln/>
        </p:spPr>
      </p:sp>
      <p:sp>
        <p:nvSpPr>
          <p:cNvPr id="27" name="Text 25"/>
          <p:cNvSpPr/>
          <p:nvPr/>
        </p:nvSpPr>
        <p:spPr>
          <a:xfrm>
            <a:off x="685800" y="412394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1261872" y="4041648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61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the data &amp; shake hands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572000" y="4041648"/>
            <a:ext cx="5577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2B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Mount Drive or use the share link — then info() and head() before anything else.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8640" y="4681728"/>
            <a:ext cx="9784080" cy="566928"/>
          </a:xfrm>
          <a:prstGeom prst="roundRect">
            <a:avLst>
              <a:gd name="adj" fmla="val 12903"/>
            </a:avLst>
          </a:prstGeom>
          <a:solidFill>
            <a:srgbClr val="F5F4F4"/>
          </a:solidFill>
          <a:ln/>
        </p:spPr>
      </p:sp>
      <p:sp>
        <p:nvSpPr>
          <p:cNvPr id="31" name="Shape 29"/>
          <p:cNvSpPr/>
          <p:nvPr/>
        </p:nvSpPr>
        <p:spPr>
          <a:xfrm>
            <a:off x="685800" y="4764024"/>
            <a:ext cx="402336" cy="402336"/>
          </a:xfrm>
          <a:prstGeom prst="ellipse">
            <a:avLst/>
          </a:prstGeom>
          <a:solidFill>
            <a:srgbClr val="A6192E"/>
          </a:solidFill>
          <a:ln/>
        </p:spPr>
      </p:sp>
      <p:sp>
        <p:nvSpPr>
          <p:cNvPr id="32" name="Text 30"/>
          <p:cNvSpPr/>
          <p:nvPr/>
        </p:nvSpPr>
        <p:spPr>
          <a:xfrm>
            <a:off x="685800" y="476402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1261872" y="4681728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61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pipeline, one stage at a time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4572000" y="4681728"/>
            <a:ext cx="5577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2B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→ clean → transform → analyze. Run and verify each stage before the next.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548640" y="5321808"/>
            <a:ext cx="9784080" cy="566928"/>
          </a:xfrm>
          <a:prstGeom prst="roundRect">
            <a:avLst>
              <a:gd name="adj" fmla="val 12903"/>
            </a:avLst>
          </a:prstGeom>
          <a:solidFill>
            <a:srgbClr val="FBF1F2"/>
          </a:solidFill>
          <a:ln/>
        </p:spPr>
      </p:sp>
      <p:sp>
        <p:nvSpPr>
          <p:cNvPr id="36" name="Shape 34"/>
          <p:cNvSpPr/>
          <p:nvPr/>
        </p:nvSpPr>
        <p:spPr>
          <a:xfrm>
            <a:off x="685800" y="5404104"/>
            <a:ext cx="402336" cy="402336"/>
          </a:xfrm>
          <a:prstGeom prst="ellipse">
            <a:avLst/>
          </a:prstGeom>
          <a:solidFill>
            <a:srgbClr val="A6192E"/>
          </a:solidFill>
          <a:ln/>
        </p:spPr>
      </p:sp>
      <p:sp>
        <p:nvSpPr>
          <p:cNvPr id="37" name="Text 35"/>
          <p:cNvSpPr/>
          <p:nvPr/>
        </p:nvSpPr>
        <p:spPr>
          <a:xfrm>
            <a:off x="685800" y="540410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1261872" y="5321808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61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Visualize &amp; format in APA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4572000" y="5321808"/>
            <a:ext cx="5577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2B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Charts that serve a named decision; captions, statistics, and references in APA 7.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10561320" y="1481328"/>
            <a:ext cx="1078992" cy="4407408"/>
          </a:xfrm>
          <a:prstGeom prst="roundRect">
            <a:avLst>
              <a:gd name="adj" fmla="val 6780"/>
            </a:avLst>
          </a:prstGeom>
          <a:solidFill>
            <a:srgbClr val="5C101D"/>
          </a:solidFill>
          <a:ln/>
        </p:spPr>
      </p:sp>
      <p:sp>
        <p:nvSpPr>
          <p:cNvPr id="41" name="Text 39"/>
          <p:cNvSpPr/>
          <p:nvPr/>
        </p:nvSpPr>
        <p:spPr>
          <a:xfrm rot="5400000">
            <a:off x="8897112" y="3145536"/>
            <a:ext cx="4407408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 O G   A S   Y O U   G O   —   E V E R Y   S T E P   L E A V E S   A N   A R T I F A C 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5105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5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BDAT05 · The Auditable Prompt · 5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61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· ONCE PER PROJECT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76656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6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Establish your BDAT05 coding assistant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389888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2B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start cold. Your first message sets the role, the stack, and the working rules — everything after inherits them. Copy this, adapt the bracketed parts, keep the rest: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103120"/>
            <a:ext cx="11091672" cy="2784236"/>
          </a:xfrm>
          <a:prstGeom prst="roundRect">
            <a:avLst>
              <a:gd name="adj" fmla="val 2627"/>
            </a:avLst>
          </a:prstGeom>
          <a:solidFill>
            <a:srgbClr val="FBF1F2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2157984"/>
            <a:ext cx="64008" cy="2674508"/>
          </a:xfrm>
          <a:prstGeom prst="rect">
            <a:avLst/>
          </a:prstGeom>
          <a:solidFill>
            <a:srgbClr val="A6192E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212848"/>
            <a:ext cx="10543032" cy="2564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150" i="1" dirty="0">
                <a:solidFill>
                  <a:srgbClr val="2B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are my BDAT05 coding assistant for a predictive-analytics course project.</a:t>
            </a:r>
            <a:endParaRPr lang="en-US" sz="11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150" i="1" dirty="0">
                <a:solidFill>
                  <a:srgbClr val="2B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Environment: Google Colab · Python · pandas, NumPy, matplotlib, scikit-learn, statsmodels ONLY.</a:t>
            </a:r>
            <a:endParaRPr lang="en-US" sz="11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150" i="1" dirty="0">
                <a:solidFill>
                  <a:srgbClr val="2B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rules:</a:t>
            </a:r>
            <a:endParaRPr lang="en-US" sz="11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150" i="1" dirty="0">
                <a:solidFill>
                  <a:srgbClr val="2B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Before writing any code, restate my task and list every assumption you are making.</a:t>
            </a:r>
            <a:endParaRPr lang="en-US" sz="11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150" i="1" dirty="0">
                <a:solidFill>
                  <a:srgbClr val="2B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If my request is ambiguous, ask me questions first — do not guess.</a:t>
            </a:r>
            <a:endParaRPr lang="en-US" sz="11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150" i="1" dirty="0">
                <a:solidFill>
                  <a:srgbClr val="2B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Write code in SMALL commented blocks, one step per reply — never a full script.</a:t>
            </a:r>
            <a:endParaRPr lang="en-US" sz="11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150" i="1" dirty="0">
                <a:solidFill>
                  <a:srgbClr val="2B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Never invent column names or values. Ask me to paste df.info() and work only from that.</a:t>
            </a:r>
            <a:endParaRPr lang="en-US" sz="11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150" i="1" dirty="0">
                <a:solidFill>
                  <a:srgbClr val="2B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After each block, tell me what output to expect and how to CHECK that it is right.</a:t>
            </a:r>
            <a:endParaRPr lang="en-US" sz="11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150" i="1" dirty="0">
                <a:solidFill>
                  <a:srgbClr val="2B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When you are unsure, say so explicitly.</a:t>
            </a:r>
            <a:endParaRPr lang="en-US" sz="11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150" i="1" dirty="0">
                <a:solidFill>
                  <a:srgbClr val="2B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Acknowledge these rules and wait. My problem frame comes next.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10222992" y="1956816"/>
            <a:ext cx="1280160" cy="292608"/>
          </a:xfrm>
          <a:prstGeom prst="roundRect">
            <a:avLst>
              <a:gd name="adj" fmla="val 37500"/>
            </a:avLst>
          </a:prstGeom>
          <a:solidFill>
            <a:srgbClr val="A6192E"/>
          </a:solidFill>
          <a:ln/>
        </p:spPr>
      </p:sp>
      <p:sp>
        <p:nvSpPr>
          <p:cNvPr id="10" name="Text 8"/>
          <p:cNvSpPr/>
          <p:nvPr/>
        </p:nvSpPr>
        <p:spPr>
          <a:xfrm>
            <a:off x="10222992" y="1956816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TYPE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548640" y="5257800"/>
            <a:ext cx="5408676" cy="1051560"/>
          </a:xfrm>
          <a:prstGeom prst="roundRect">
            <a:avLst>
              <a:gd name="adj" fmla="val 6957"/>
            </a:avLst>
          </a:prstGeom>
          <a:solidFill>
            <a:srgbClr val="F5F4F4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5367528"/>
            <a:ext cx="49514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A61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 standing brief: 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2B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stated once govern the whole conversation — you stop repeating yourself, and the model stops writing 80-line scripts you cannot audit.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231636" y="5257800"/>
            <a:ext cx="5408676" cy="1051560"/>
          </a:xfrm>
          <a:prstGeom prst="roundRect">
            <a:avLst>
              <a:gd name="adj" fmla="val 6957"/>
            </a:avLst>
          </a:prstGeom>
          <a:solidFill>
            <a:srgbClr val="FBF1F2"/>
          </a:solidFill>
          <a:ln/>
        </p:spPr>
      </p:sp>
      <p:sp>
        <p:nvSpPr>
          <p:cNvPr id="14" name="Text 12"/>
          <p:cNvSpPr/>
          <p:nvPr/>
        </p:nvSpPr>
        <p:spPr>
          <a:xfrm>
            <a:off x="6460236" y="5367528"/>
            <a:ext cx="49514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A61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1, 2 and 4 are your safety net: 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2B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force the model to expose its assumptions — the exact place where silent failures are born.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5105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5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BDAT05 · The Auditable Prompt · 6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61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· YOUR CANVAS IS THE PROMPT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76656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6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Frame the task — the model cannot fix a frame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627632"/>
            <a:ext cx="1600200" cy="402336"/>
          </a:xfrm>
          <a:prstGeom prst="roundRect">
            <a:avLst>
              <a:gd name="adj" fmla="val 27273"/>
            </a:avLst>
          </a:prstGeom>
          <a:solidFill>
            <a:srgbClr val="A6192E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627632"/>
            <a:ext cx="1600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377440" y="1508760"/>
            <a:ext cx="9262872" cy="621792"/>
          </a:xfrm>
          <a:prstGeom prst="roundRect">
            <a:avLst>
              <a:gd name="adj" fmla="val 11765"/>
            </a:avLst>
          </a:prstGeom>
          <a:solidFill>
            <a:srgbClr val="FBF1F2"/>
          </a:solidFill>
          <a:ln/>
        </p:spPr>
      </p:sp>
      <p:sp>
        <p:nvSpPr>
          <p:cNvPr id="8" name="Text 6"/>
          <p:cNvSpPr/>
          <p:nvPr/>
        </p:nvSpPr>
        <p:spPr>
          <a:xfrm>
            <a:off x="2606040" y="1508760"/>
            <a:ext cx="8778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i="1" dirty="0">
                <a:solidFill>
                  <a:srgbClr val="2B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Kape Tayo Coffee, 6 branches. Each month the operations manager decides stock and staffing per branch. I am the analyst.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" y="2340864"/>
            <a:ext cx="1600200" cy="402336"/>
          </a:xfrm>
          <a:prstGeom prst="roundRect">
            <a:avLst>
              <a:gd name="adj" fmla="val 27273"/>
            </a:avLst>
          </a:prstGeom>
          <a:solidFill>
            <a:srgbClr val="A6192E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340864"/>
            <a:ext cx="1600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377440" y="2221992"/>
            <a:ext cx="9262872" cy="621792"/>
          </a:xfrm>
          <a:prstGeom prst="roundRect">
            <a:avLst>
              <a:gd name="adj" fmla="val 11765"/>
            </a:avLst>
          </a:prstGeom>
          <a:solidFill>
            <a:srgbClr val="F5F4F4"/>
          </a:solidFill>
          <a:ln/>
        </p:spPr>
      </p:sp>
      <p:sp>
        <p:nvSpPr>
          <p:cNvPr id="12" name="Text 10"/>
          <p:cNvSpPr/>
          <p:nvPr/>
        </p:nvSpPr>
        <p:spPr>
          <a:xfrm>
            <a:off x="2606040" y="2221992"/>
            <a:ext cx="8778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i="1" dirty="0">
                <a:solidFill>
                  <a:srgbClr val="2B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branch-month table I will build from sales.csv and branches.csv (~108 rows). I will paste df.info() — work only from that schema.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3054096"/>
            <a:ext cx="1600200" cy="402336"/>
          </a:xfrm>
          <a:prstGeom prst="roundRect">
            <a:avLst>
              <a:gd name="adj" fmla="val 27273"/>
            </a:avLst>
          </a:prstGeom>
          <a:solidFill>
            <a:srgbClr val="A6192E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3054096"/>
            <a:ext cx="1600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377440" y="2935224"/>
            <a:ext cx="9262872" cy="621792"/>
          </a:xfrm>
          <a:prstGeom prst="roundRect">
            <a:avLst>
              <a:gd name="adj" fmla="val 11765"/>
            </a:avLst>
          </a:prstGeom>
          <a:solidFill>
            <a:srgbClr val="FBF1F2"/>
          </a:solidFill>
          <a:ln/>
        </p:spPr>
      </p:sp>
      <p:sp>
        <p:nvSpPr>
          <p:cNvPr id="16" name="Text 14"/>
          <p:cNvSpPr/>
          <p:nvPr/>
        </p:nvSpPr>
        <p:spPr>
          <a:xfrm>
            <a:off x="2606040" y="2935224"/>
            <a:ext cx="8778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i="1" dirty="0">
                <a:solidFill>
                  <a:srgbClr val="2B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next month’s orders per branch, 6-month horizon. Baseline to beat: the 3-month moving average.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48640" y="3767328"/>
            <a:ext cx="1600200" cy="402336"/>
          </a:xfrm>
          <a:prstGeom prst="roundRect">
            <a:avLst>
              <a:gd name="adj" fmla="val 27273"/>
            </a:avLst>
          </a:prstGeom>
          <a:solidFill>
            <a:srgbClr val="A6192E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3767328"/>
            <a:ext cx="1600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377440" y="3648456"/>
            <a:ext cx="9262872" cy="621792"/>
          </a:xfrm>
          <a:prstGeom prst="roundRect">
            <a:avLst>
              <a:gd name="adj" fmla="val 11765"/>
            </a:avLst>
          </a:prstGeom>
          <a:solidFill>
            <a:srgbClr val="F5F4F4"/>
          </a:solidFill>
          <a:ln/>
        </p:spPr>
      </p:sp>
      <p:sp>
        <p:nvSpPr>
          <p:cNvPr id="20" name="Text 18"/>
          <p:cNvSpPr/>
          <p:nvPr/>
        </p:nvSpPr>
        <p:spPr>
          <a:xfrm>
            <a:off x="2606040" y="3648456"/>
            <a:ext cx="8778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i="1" dirty="0">
                <a:solidFill>
                  <a:srgbClr val="2B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Colab, course stack only. No raw data rows will be shared. Small commented blocks, plan before code.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48640" y="4480560"/>
            <a:ext cx="1600200" cy="402336"/>
          </a:xfrm>
          <a:prstGeom prst="roundRect">
            <a:avLst>
              <a:gd name="adj" fmla="val 27273"/>
            </a:avLst>
          </a:prstGeom>
          <a:solidFill>
            <a:srgbClr val="5C101D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4480560"/>
            <a:ext cx="1600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2377440" y="4361688"/>
            <a:ext cx="9262872" cy="621792"/>
          </a:xfrm>
          <a:prstGeom prst="roundRect">
            <a:avLst>
              <a:gd name="adj" fmla="val 11765"/>
            </a:avLst>
          </a:prstGeom>
          <a:solidFill>
            <a:srgbClr val="FBF1F2"/>
          </a:solidFill>
          <a:ln/>
        </p:spPr>
      </p:sp>
      <p:sp>
        <p:nvSpPr>
          <p:cNvPr id="24" name="Text 22"/>
          <p:cNvSpPr/>
          <p:nvPr/>
        </p:nvSpPr>
        <p:spPr>
          <a:xfrm>
            <a:off x="2606040" y="4361688"/>
            <a:ext cx="8778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i="1" dirty="0">
                <a:solidFill>
                  <a:srgbClr val="2B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Commented notebook cells, one decision-ready chart, and a short APA-styled summary of findings.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48640" y="5230368"/>
            <a:ext cx="11091672" cy="960120"/>
          </a:xfrm>
          <a:prstGeom prst="roundRect">
            <a:avLst>
              <a:gd name="adj" fmla="val 7619"/>
            </a:avLst>
          </a:prstGeom>
          <a:solidFill>
            <a:srgbClr val="5C101D"/>
          </a:solidFill>
          <a:ln/>
        </p:spPr>
      </p:sp>
      <p:sp>
        <p:nvSpPr>
          <p:cNvPr id="26" name="Text 24"/>
          <p:cNvSpPr/>
          <p:nvPr/>
        </p:nvSpPr>
        <p:spPr>
          <a:xfrm>
            <a:off x="822960" y="5367528"/>
            <a:ext cx="105430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4000"/>
              </a:lnSpc>
              <a:buNone/>
            </a:pPr>
            <a:r>
              <a:rPr lang="en-US" sz="13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Notice what this is: </a:t>
            </a:r>
            <a:pPr indent="0" marL="0">
              <a:lnSpc>
                <a:spcPct val="114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fields 1–6 of your P1 canvas, read aloud. A student with a finished canvas already holds the strongest prompt in the room. Garbage frame in → confident garbage out.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5105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5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BDAT05 · The Auditable Prompt · 7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61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· THE CHEAPEST CHECKPOINT IN ANALYTICS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76656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6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Ask for articulation — never code first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11091672" cy="1613358"/>
          </a:xfrm>
          <a:prstGeom prst="roundRect">
            <a:avLst>
              <a:gd name="adj" fmla="val 4534"/>
            </a:avLst>
          </a:prstGeom>
          <a:solidFill>
            <a:srgbClr val="FBF1F2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517904"/>
            <a:ext cx="64008" cy="1503630"/>
          </a:xfrm>
          <a:prstGeom prst="rect">
            <a:avLst/>
          </a:prstGeom>
          <a:solidFill>
            <a:srgbClr val="A6192E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572768"/>
            <a:ext cx="10543032" cy="1393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250" i="1" dirty="0">
                <a:solidFill>
                  <a:srgbClr val="2B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write code yet. First: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i="1" dirty="0">
                <a:solidFill>
                  <a:srgbClr val="2B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(1) restate my problem in your own words;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i="1" dirty="0">
                <a:solidFill>
                  <a:srgbClr val="2B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(2) give me a numbered analysis plan, naming the pandas operation for each step;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i="1" dirty="0">
                <a:solidFill>
                  <a:srgbClr val="2B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(3) at each step, tell me what could go wrong with MY data;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i="1" dirty="0">
                <a:solidFill>
                  <a:srgbClr val="2B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(4) then stop and wait for my approval.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10222992" y="1316736"/>
            <a:ext cx="1280160" cy="292608"/>
          </a:xfrm>
          <a:prstGeom prst="roundRect">
            <a:avLst>
              <a:gd name="adj" fmla="val 37500"/>
            </a:avLst>
          </a:prstGeom>
          <a:solidFill>
            <a:srgbClr val="A6192E"/>
          </a:solidFill>
          <a:ln/>
        </p:spPr>
      </p:sp>
      <p:sp>
        <p:nvSpPr>
          <p:cNvPr id="9" name="Text 7"/>
          <p:cNvSpPr/>
          <p:nvPr/>
        </p:nvSpPr>
        <p:spPr>
          <a:xfrm>
            <a:off x="10222992" y="1316736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TYPE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548640" y="3429000"/>
            <a:ext cx="3514344" cy="2331720"/>
          </a:xfrm>
          <a:prstGeom prst="roundRect">
            <a:avLst>
              <a:gd name="adj" fmla="val 3137"/>
            </a:avLst>
          </a:prstGeom>
          <a:solidFill>
            <a:srgbClr val="F5F4F4"/>
          </a:solidFill>
          <a:ln/>
        </p:spPr>
      </p:sp>
      <p:sp>
        <p:nvSpPr>
          <p:cNvPr id="11" name="Shape 9"/>
          <p:cNvSpPr/>
          <p:nvPr/>
        </p:nvSpPr>
        <p:spPr>
          <a:xfrm>
            <a:off x="804672" y="3657600"/>
            <a:ext cx="475488" cy="475488"/>
          </a:xfrm>
          <a:prstGeom prst="ellipse">
            <a:avLst/>
          </a:prstGeom>
          <a:solidFill>
            <a:srgbClr val="A6192E"/>
          </a:solidFill>
          <a:ln/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8299" y="3781227"/>
            <a:ext cx="228234" cy="228234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804672" y="4251960"/>
            <a:ext cx="3002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A61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Misunderstanding costs 10 seconds here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804672" y="4818888"/>
            <a:ext cx="3002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2B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…and an hour after 200 lines of code. If the restatement is wrong, your frame was unclear — fix the frame, not the code.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4337304" y="3429000"/>
            <a:ext cx="3514344" cy="2331720"/>
          </a:xfrm>
          <a:prstGeom prst="roundRect">
            <a:avLst>
              <a:gd name="adj" fmla="val 3137"/>
            </a:avLst>
          </a:prstGeom>
          <a:solidFill>
            <a:srgbClr val="F3E3C0"/>
          </a:solidFill>
          <a:ln/>
        </p:spPr>
      </p:sp>
      <p:sp>
        <p:nvSpPr>
          <p:cNvPr id="16" name="Shape 13"/>
          <p:cNvSpPr/>
          <p:nvPr/>
        </p:nvSpPr>
        <p:spPr>
          <a:xfrm>
            <a:off x="4593336" y="3657600"/>
            <a:ext cx="475488" cy="475488"/>
          </a:xfrm>
          <a:prstGeom prst="ellipse">
            <a:avLst/>
          </a:prstGeom>
          <a:solidFill>
            <a:srgbClr val="A6192E"/>
          </a:solidFill>
          <a:ln/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6963" y="3781227"/>
            <a:ext cx="228234" cy="228234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4593336" y="4251960"/>
            <a:ext cx="3002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A61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plan is audit artifact #1</a:t>
            </a:r>
            <a:endParaRPr lang="en-US" sz="1300" dirty="0"/>
          </a:p>
        </p:txBody>
      </p:sp>
      <p:sp>
        <p:nvSpPr>
          <p:cNvPr id="19" name="Text 15"/>
          <p:cNvSpPr/>
          <p:nvPr/>
        </p:nvSpPr>
        <p:spPr>
          <a:xfrm>
            <a:off x="4593336" y="4818888"/>
            <a:ext cx="3002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2B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it, correct it, and paste the final version into your ai-use-log. It proves the analysis design was yours.</a:t>
            </a:r>
            <a:endParaRPr lang="en-US" sz="1050" dirty="0"/>
          </a:p>
        </p:txBody>
      </p:sp>
      <p:sp>
        <p:nvSpPr>
          <p:cNvPr id="20" name="Shape 16"/>
          <p:cNvSpPr/>
          <p:nvPr/>
        </p:nvSpPr>
        <p:spPr>
          <a:xfrm>
            <a:off x="8125968" y="3429000"/>
            <a:ext cx="3514344" cy="2331720"/>
          </a:xfrm>
          <a:prstGeom prst="roundRect">
            <a:avLst>
              <a:gd name="adj" fmla="val 3137"/>
            </a:avLst>
          </a:prstGeom>
          <a:solidFill>
            <a:srgbClr val="F5F4F4"/>
          </a:solidFill>
          <a:ln/>
        </p:spPr>
      </p:sp>
      <p:sp>
        <p:nvSpPr>
          <p:cNvPr id="21" name="Shape 17"/>
          <p:cNvSpPr/>
          <p:nvPr/>
        </p:nvSpPr>
        <p:spPr>
          <a:xfrm>
            <a:off x="8382000" y="3657600"/>
            <a:ext cx="475488" cy="475488"/>
          </a:xfrm>
          <a:prstGeom prst="ellipse">
            <a:avLst/>
          </a:prstGeom>
          <a:solidFill>
            <a:srgbClr val="A6192E"/>
          </a:solidFill>
          <a:ln/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5627" y="3781227"/>
            <a:ext cx="228234" cy="228234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8382000" y="4251960"/>
            <a:ext cx="3002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A61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stay the analyst</a:t>
            </a:r>
            <a:endParaRPr lang="en-US" sz="1300" dirty="0"/>
          </a:p>
        </p:txBody>
      </p:sp>
      <p:sp>
        <p:nvSpPr>
          <p:cNvPr id="24" name="Text 19"/>
          <p:cNvSpPr/>
          <p:nvPr/>
        </p:nvSpPr>
        <p:spPr>
          <a:xfrm>
            <a:off x="8382000" y="4818888"/>
            <a:ext cx="3002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2B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Approving a plan is an act of judgment. This is the moment vibe coding becomes engineering — the thinking happens before the typing.</a:t>
            </a:r>
            <a:endParaRPr lang="en-US" sz="1050" dirty="0"/>
          </a:p>
        </p:txBody>
      </p:sp>
      <p:sp>
        <p:nvSpPr>
          <p:cNvPr id="25" name="Text 20"/>
          <p:cNvSpPr/>
          <p:nvPr/>
        </p:nvSpPr>
        <p:spPr>
          <a:xfrm>
            <a:off x="548640" y="594360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619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If you skip one slide in this deck, do not let it be this one.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5105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5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BDAT05 · The Auditable Prompt · 8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61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 · ONE CELL, EVERY NOTEBOOK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76656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6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 up the environment — reproducibly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11091672" cy="777017"/>
          </a:xfrm>
          <a:prstGeom prst="roundRect">
            <a:avLst>
              <a:gd name="adj" fmla="val 9414"/>
            </a:avLst>
          </a:prstGeom>
          <a:solidFill>
            <a:srgbClr val="FBF1F2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517904"/>
            <a:ext cx="64008" cy="667289"/>
          </a:xfrm>
          <a:prstGeom prst="rect">
            <a:avLst/>
          </a:prstGeom>
          <a:solidFill>
            <a:srgbClr val="A6192E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572768"/>
            <a:ext cx="10543032" cy="557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250" i="1" dirty="0">
                <a:solidFill>
                  <a:srgbClr val="2B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Approved. Write the first Colab cell: imports for the course stack, sensible display options,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i="1" dirty="0">
                <a:solidFill>
                  <a:srgbClr val="2B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a printout of the library versions — so anyone re-running my notebook sees what I ran.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10222992" y="1316736"/>
            <a:ext cx="1280160" cy="292608"/>
          </a:xfrm>
          <a:prstGeom prst="roundRect">
            <a:avLst>
              <a:gd name="adj" fmla="val 37500"/>
            </a:avLst>
          </a:prstGeom>
          <a:solidFill>
            <a:srgbClr val="A6192E"/>
          </a:solidFill>
          <a:ln/>
        </p:spPr>
      </p:sp>
      <p:sp>
        <p:nvSpPr>
          <p:cNvPr id="9" name="Text 7"/>
          <p:cNvSpPr/>
          <p:nvPr/>
        </p:nvSpPr>
        <p:spPr>
          <a:xfrm>
            <a:off x="10222992" y="1316736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TYPE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548640" y="2514600"/>
            <a:ext cx="11091672" cy="1704940"/>
          </a:xfrm>
          <a:prstGeom prst="roundRect">
            <a:avLst>
              <a:gd name="adj" fmla="val 4291"/>
            </a:avLst>
          </a:prstGeom>
          <a:solidFill>
            <a:srgbClr val="2E2A2B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2587752"/>
            <a:ext cx="10634472" cy="15586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pandas as pd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numpy as np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matplotlib.pyplot as plt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pd.set_option("display.max_columns", None)   # never let a hidden column hide a problem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print("pandas", pd.__version__, "| numpy", np.__version__)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10222992" y="2368296"/>
            <a:ext cx="1280160" cy="292608"/>
          </a:xfrm>
          <a:prstGeom prst="roundRect">
            <a:avLst>
              <a:gd name="adj" fmla="val 37500"/>
            </a:avLst>
          </a:prstGeom>
          <a:solidFill>
            <a:srgbClr val="2B2626"/>
          </a:solidFill>
          <a:ln/>
        </p:spPr>
      </p:sp>
      <p:sp>
        <p:nvSpPr>
          <p:cNvPr id="13" name="Text 11"/>
          <p:cNvSpPr/>
          <p:nvPr/>
        </p:nvSpPr>
        <p:spPr>
          <a:xfrm>
            <a:off x="10222992" y="2368296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COLAB CELL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48640" y="4480560"/>
            <a:ext cx="11091672" cy="1463040"/>
          </a:xfrm>
          <a:prstGeom prst="roundRect">
            <a:avLst>
              <a:gd name="adj" fmla="val 5000"/>
            </a:avLst>
          </a:prstGeom>
          <a:solidFill>
            <a:srgbClr val="F5F4F4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4617720"/>
            <a:ext cx="1054303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b="1" dirty="0">
                <a:solidFill>
                  <a:srgbClr val="A61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versions in the output: </a:t>
            </a:r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2B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notebook is graded by whether it reruns top-to-bottom — Restart &amp; Run all is the honesty test, in this course and in industry. A printed version line means “what you see is what I ran.” Import scikit-learn and statsmodels later, in the cell where they are first used, so every dependency is visible at its point of need.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5105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5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BDAT05 · The Auditable Prompt · 9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61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 · THE DATA ARRIVES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76656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6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Load from Google Drive — then shake hands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54086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61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A — your own Drive (mount it):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1755648"/>
            <a:ext cx="5408676" cy="1289304"/>
          </a:xfrm>
          <a:prstGeom prst="roundRect">
            <a:avLst>
              <a:gd name="adj" fmla="val 5674"/>
            </a:avLst>
          </a:prstGeom>
          <a:solidFill>
            <a:srgbClr val="2E2A2B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828800"/>
            <a:ext cx="495147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8E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google.colab import drive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8E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drive.mount("/content/drive")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8E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path = "/content/drive/MyDrive/KapeTayo/"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8E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sales = pd.read_csv(path + "sales.csv")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39996" y="1609344"/>
            <a:ext cx="1280160" cy="292608"/>
          </a:xfrm>
          <a:prstGeom prst="roundRect">
            <a:avLst>
              <a:gd name="adj" fmla="val 37500"/>
            </a:avLst>
          </a:prstGeom>
          <a:solidFill>
            <a:srgbClr val="2B2626"/>
          </a:solidFill>
          <a:ln/>
        </p:spPr>
      </p:sp>
      <p:sp>
        <p:nvSpPr>
          <p:cNvPr id="9" name="Text 7"/>
          <p:cNvSpPr/>
          <p:nvPr/>
        </p:nvSpPr>
        <p:spPr>
          <a:xfrm>
            <a:off x="4539996" y="1609344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COLAB CELL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6231636" y="1417320"/>
            <a:ext cx="54086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61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B — a shared link (no mount):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31636" y="1755648"/>
            <a:ext cx="5408676" cy="1289304"/>
          </a:xfrm>
          <a:prstGeom prst="roundRect">
            <a:avLst>
              <a:gd name="adj" fmla="val 5674"/>
            </a:avLst>
          </a:prstGeom>
          <a:solidFill>
            <a:srgbClr val="2E2A2B"/>
          </a:solidFill>
          <a:ln/>
        </p:spPr>
      </p:sp>
      <p:sp>
        <p:nvSpPr>
          <p:cNvPr id="12" name="Text 10"/>
          <p:cNvSpPr/>
          <p:nvPr/>
        </p:nvSpPr>
        <p:spPr>
          <a:xfrm>
            <a:off x="6460236" y="1828800"/>
            <a:ext cx="495147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8E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share link: drive.google.com/file/d/FILE_ID/view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8E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FILE_ID = "1AbC...xyz"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8E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url = ("https://drive.google.com/uc"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8E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f"?export=download&amp;id={FILE_ID}")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8E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sales = pd.read_csv(url)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10222992" y="1609344"/>
            <a:ext cx="1280160" cy="292608"/>
          </a:xfrm>
          <a:prstGeom prst="roundRect">
            <a:avLst>
              <a:gd name="adj" fmla="val 37500"/>
            </a:avLst>
          </a:prstGeom>
          <a:solidFill>
            <a:srgbClr val="2B2626"/>
          </a:solidFill>
          <a:ln/>
        </p:spPr>
      </p:sp>
      <p:sp>
        <p:nvSpPr>
          <p:cNvPr id="14" name="Text 12"/>
          <p:cNvSpPr/>
          <p:nvPr/>
        </p:nvSpPr>
        <p:spPr>
          <a:xfrm>
            <a:off x="10222992" y="1609344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COLAB CELL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548640" y="3291840"/>
            <a:ext cx="11091672" cy="645068"/>
          </a:xfrm>
          <a:prstGeom prst="roundRect">
            <a:avLst>
              <a:gd name="adj" fmla="val 11340"/>
            </a:avLst>
          </a:prstGeom>
          <a:solidFill>
            <a:srgbClr val="2E2A2B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3364992"/>
            <a:ext cx="10634472" cy="498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8E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sales.info()      # the handshake: rows, columns, dtypes, missing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8E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sales.head(10)    # look before you trust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4224528"/>
            <a:ext cx="11091672" cy="754715"/>
          </a:xfrm>
          <a:prstGeom prst="roundRect">
            <a:avLst>
              <a:gd name="adj" fmla="val 9693"/>
            </a:avLst>
          </a:prstGeom>
          <a:solidFill>
            <a:srgbClr val="FBF1F2"/>
          </a:solidFill>
          <a:ln/>
        </p:spPr>
      </p:sp>
      <p:sp>
        <p:nvSpPr>
          <p:cNvPr id="18" name="Shape 16"/>
          <p:cNvSpPr/>
          <p:nvPr/>
        </p:nvSpPr>
        <p:spPr>
          <a:xfrm>
            <a:off x="548640" y="4279392"/>
            <a:ext cx="64008" cy="644987"/>
          </a:xfrm>
          <a:prstGeom prst="rect">
            <a:avLst/>
          </a:prstGeom>
          <a:solidFill>
            <a:srgbClr val="A6192E"/>
          </a:solidFill>
          <a:ln/>
        </p:spPr>
      </p:sp>
      <p:sp>
        <p:nvSpPr>
          <p:cNvPr id="19" name="Text 17"/>
          <p:cNvSpPr/>
          <p:nvPr/>
        </p:nvSpPr>
        <p:spPr>
          <a:xfrm>
            <a:off x="822960" y="4334256"/>
            <a:ext cx="10543032" cy="5352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200" i="1" dirty="0">
                <a:solidFill>
                  <a:srgbClr val="2B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is the OUTPUT of sales.info() and the column list: [paste schema]. Update your plan</a:t>
            </a:r>
            <a:endParaRPr lang="en-US" sz="120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00" i="1" dirty="0">
                <a:solidFill>
                  <a:srgbClr val="2B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use these exact column names, and flag any dtype that looks wrong for what it holds.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10222992" y="4078224"/>
            <a:ext cx="1280160" cy="292608"/>
          </a:xfrm>
          <a:prstGeom prst="roundRect">
            <a:avLst>
              <a:gd name="adj" fmla="val 37500"/>
            </a:avLst>
          </a:prstGeom>
          <a:solidFill>
            <a:srgbClr val="A6192E"/>
          </a:solidFill>
          <a:ln/>
        </p:spPr>
      </p:sp>
      <p:sp>
        <p:nvSpPr>
          <p:cNvPr id="21" name="Text 19"/>
          <p:cNvSpPr/>
          <p:nvPr/>
        </p:nvSpPr>
        <p:spPr>
          <a:xfrm>
            <a:off x="10222992" y="4078224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TYPE — SCHEMA ONLY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548640" y="5349240"/>
            <a:ext cx="11091672" cy="914400"/>
          </a:xfrm>
          <a:prstGeom prst="roundRect">
            <a:avLst>
              <a:gd name="adj" fmla="val 8000"/>
            </a:avLst>
          </a:prstGeom>
          <a:solidFill>
            <a:srgbClr val="5C101D"/>
          </a:solidFill>
          <a:ln/>
        </p:spPr>
      </p:sp>
      <p:sp>
        <p:nvSpPr>
          <p:cNvPr id="23" name="Text 21"/>
          <p:cNvSpPr/>
          <p:nvPr/>
        </p:nvSpPr>
        <p:spPr>
          <a:xfrm>
            <a:off x="822960" y="5486400"/>
            <a:ext cx="105430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privacy line, again:  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df.info() output is schema — safe to share. df.head() output is DATA — it stays in Colab. One pasted table of real customer or employee rows is a Tier 4 violation and an RA 10173 breach.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5105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5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BDAT05 · The Auditable Prompt · 10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61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6 · THE ENGINE OF THE METHOD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76656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6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stage per message — run, verify, proceed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2331720" cy="457200"/>
          </a:xfrm>
          <a:prstGeom prst="roundRect">
            <a:avLst>
              <a:gd name="adj" fmla="val 24000"/>
            </a:avLst>
          </a:prstGeom>
          <a:solidFill>
            <a:srgbClr val="A6192E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46304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2880360" y="1463040"/>
            <a:ext cx="521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7A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3401568" y="1463040"/>
            <a:ext cx="2331720" cy="457200"/>
          </a:xfrm>
          <a:prstGeom prst="roundRect">
            <a:avLst>
              <a:gd name="adj" fmla="val 24000"/>
            </a:avLst>
          </a:prstGeom>
          <a:solidFill>
            <a:srgbClr val="A6192E"/>
          </a:solidFill>
          <a:ln/>
        </p:spPr>
      </p:sp>
      <p:sp>
        <p:nvSpPr>
          <p:cNvPr id="9" name="Text 7"/>
          <p:cNvSpPr/>
          <p:nvPr/>
        </p:nvSpPr>
        <p:spPr>
          <a:xfrm>
            <a:off x="3401568" y="146304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733288" y="1463040"/>
            <a:ext cx="521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7A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254496" y="1463040"/>
            <a:ext cx="2331720" cy="457200"/>
          </a:xfrm>
          <a:prstGeom prst="roundRect">
            <a:avLst>
              <a:gd name="adj" fmla="val 24000"/>
            </a:avLst>
          </a:prstGeom>
          <a:solidFill>
            <a:srgbClr val="A6192E"/>
          </a:solidFill>
          <a:ln/>
        </p:spPr>
      </p:sp>
      <p:sp>
        <p:nvSpPr>
          <p:cNvPr id="12" name="Text 10"/>
          <p:cNvSpPr/>
          <p:nvPr/>
        </p:nvSpPr>
        <p:spPr>
          <a:xfrm>
            <a:off x="6254496" y="146304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8586216" y="1463040"/>
            <a:ext cx="521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7A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9107424" y="1463040"/>
            <a:ext cx="2331720" cy="457200"/>
          </a:xfrm>
          <a:prstGeom prst="roundRect">
            <a:avLst>
              <a:gd name="adj" fmla="val 24000"/>
            </a:avLst>
          </a:prstGeom>
          <a:solidFill>
            <a:srgbClr val="5C101D"/>
          </a:solidFill>
          <a:ln/>
        </p:spPr>
      </p:sp>
      <p:sp>
        <p:nvSpPr>
          <p:cNvPr id="15" name="Text 13"/>
          <p:cNvSpPr/>
          <p:nvPr/>
        </p:nvSpPr>
        <p:spPr>
          <a:xfrm>
            <a:off x="9107424" y="146304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48640" y="210312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2B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Between every pair of stages sits the same ritual: run the cell · read the output · check it your own way · only then ask for the next stage. A typical stage prompt: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48640" y="2788920"/>
            <a:ext cx="11091672" cy="1055797"/>
          </a:xfrm>
          <a:prstGeom prst="roundRect">
            <a:avLst>
              <a:gd name="adj" fmla="val 6929"/>
            </a:avLst>
          </a:prstGeom>
          <a:solidFill>
            <a:srgbClr val="FBF1F2"/>
          </a:solidFill>
          <a:ln/>
        </p:spPr>
      </p:sp>
      <p:sp>
        <p:nvSpPr>
          <p:cNvPr id="18" name="Shape 16"/>
          <p:cNvSpPr/>
          <p:nvPr/>
        </p:nvSpPr>
        <p:spPr>
          <a:xfrm>
            <a:off x="548640" y="2843784"/>
            <a:ext cx="64008" cy="946069"/>
          </a:xfrm>
          <a:prstGeom prst="rect">
            <a:avLst/>
          </a:prstGeom>
          <a:solidFill>
            <a:srgbClr val="A6192E"/>
          </a:solidFill>
          <a:ln/>
        </p:spPr>
      </p:sp>
      <p:sp>
        <p:nvSpPr>
          <p:cNvPr id="19" name="Text 17"/>
          <p:cNvSpPr/>
          <p:nvPr/>
        </p:nvSpPr>
        <p:spPr>
          <a:xfrm>
            <a:off x="822960" y="2898648"/>
            <a:ext cx="10543032" cy="8363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250" i="1" dirty="0">
                <a:solidFill>
                  <a:srgbClr val="2B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are my validation findings: [3 issues from my validate() run]. Write ONE cleaning cell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i="1" dirty="0">
                <a:solidFill>
                  <a:srgbClr val="2B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fixes only these three issues. Comment each fix with the issue and the reason.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i="1" dirty="0">
                <a:solidFill>
                  <a:srgbClr val="2B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 df.shape before and after — do not drop or change rows silently.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10222992" y="2642616"/>
            <a:ext cx="1280160" cy="292608"/>
          </a:xfrm>
          <a:prstGeom prst="roundRect">
            <a:avLst>
              <a:gd name="adj" fmla="val 37500"/>
            </a:avLst>
          </a:prstGeom>
          <a:solidFill>
            <a:srgbClr val="A6192E"/>
          </a:solidFill>
          <a:ln/>
        </p:spPr>
      </p:sp>
      <p:sp>
        <p:nvSpPr>
          <p:cNvPr id="21" name="Text 19"/>
          <p:cNvSpPr/>
          <p:nvPr/>
        </p:nvSpPr>
        <p:spPr>
          <a:xfrm>
            <a:off x="10222992" y="2642616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TYPE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548640" y="4343400"/>
            <a:ext cx="5408676" cy="1691640"/>
          </a:xfrm>
          <a:prstGeom prst="roundRect">
            <a:avLst>
              <a:gd name="adj" fmla="val 4324"/>
            </a:avLst>
          </a:prstGeom>
          <a:solidFill>
            <a:srgbClr val="F5F4F4"/>
          </a:solidFill>
          <a:ln/>
        </p:spPr>
      </p:sp>
      <p:sp>
        <p:nvSpPr>
          <p:cNvPr id="23" name="Text 21"/>
          <p:cNvSpPr/>
          <p:nvPr/>
        </p:nvSpPr>
        <p:spPr>
          <a:xfrm>
            <a:off x="777240" y="4480560"/>
            <a:ext cx="495147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A61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one stage at a time: 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B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6-cell pipeline breaks, you know which cell — and which prompt — caused it. When an 80-line script breaks, you know nothing. Small blocks are what make your work explainable at the gates.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231636" y="4343400"/>
            <a:ext cx="5408676" cy="1691640"/>
          </a:xfrm>
          <a:prstGeom prst="roundRect">
            <a:avLst>
              <a:gd name="adj" fmla="val 4324"/>
            </a:avLst>
          </a:prstGeom>
          <a:solidFill>
            <a:srgbClr val="F3E3C0"/>
          </a:solidFill>
          <a:ln/>
        </p:spPr>
      </p:sp>
      <p:sp>
        <p:nvSpPr>
          <p:cNvPr id="25" name="Text 23"/>
          <p:cNvSpPr/>
          <p:nvPr/>
        </p:nvSpPr>
        <p:spPr>
          <a:xfrm>
            <a:off x="6460236" y="4480560"/>
            <a:ext cx="495147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8A6A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“no silent changes” clause 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B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your cleaning log writing itself: every before/after count is a line in P2’s cleaning log — issue → decision → reason. The model does the typing; you own the decisions.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5105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5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BDAT05 · The Auditable Prompt · 11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61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7A · CHARTS THAT EARN THEIR PLACE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76656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6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Visualization prompts — decision first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11091672" cy="1334578"/>
          </a:xfrm>
          <a:prstGeom prst="roundRect">
            <a:avLst>
              <a:gd name="adj" fmla="val 5481"/>
            </a:avLst>
          </a:prstGeom>
          <a:solidFill>
            <a:srgbClr val="FBF1F2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517904"/>
            <a:ext cx="64008" cy="1224850"/>
          </a:xfrm>
          <a:prstGeom prst="rect">
            <a:avLst/>
          </a:prstGeom>
          <a:solidFill>
            <a:srgbClr val="A6192E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572768"/>
            <a:ext cx="10543032" cy="11151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250" i="1" dirty="0">
                <a:solidFill>
                  <a:srgbClr val="2B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chart supports the decision: monthly stock and staffing per branch.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i="1" dirty="0">
                <a:solidFill>
                  <a:srgbClr val="2B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 monthly revenue per branch as a matplotlib line chart, one figure: descriptive title,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i="1" dirty="0">
                <a:solidFill>
                  <a:srgbClr val="2B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axis labels with units (₱), a legend, readable by a manager without me presenting it.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i="1" dirty="0">
                <a:solidFill>
                  <a:srgbClr val="2B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tell me the FIRST thing that manager should notice — and what to do about it.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10222992" y="1316736"/>
            <a:ext cx="1280160" cy="292608"/>
          </a:xfrm>
          <a:prstGeom prst="roundRect">
            <a:avLst>
              <a:gd name="adj" fmla="val 37500"/>
            </a:avLst>
          </a:prstGeom>
          <a:solidFill>
            <a:srgbClr val="A6192E"/>
          </a:solidFill>
          <a:ln/>
        </p:spPr>
      </p:sp>
      <p:sp>
        <p:nvSpPr>
          <p:cNvPr id="9" name="Text 7"/>
          <p:cNvSpPr/>
          <p:nvPr/>
        </p:nvSpPr>
        <p:spPr>
          <a:xfrm>
            <a:off x="10222992" y="1316736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TYPE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548640" y="3291840"/>
            <a:ext cx="11091672" cy="877824"/>
          </a:xfrm>
          <a:prstGeom prst="roundRect">
            <a:avLst>
              <a:gd name="adj" fmla="val 8333"/>
            </a:avLst>
          </a:prstGeom>
          <a:solidFill>
            <a:srgbClr val="FBF1F2"/>
          </a:solidFill>
          <a:ln/>
        </p:spPr>
      </p:sp>
      <p:sp>
        <p:nvSpPr>
          <p:cNvPr id="11" name="Shape 9"/>
          <p:cNvSpPr/>
          <p:nvPr/>
        </p:nvSpPr>
        <p:spPr>
          <a:xfrm>
            <a:off x="749808" y="3483864"/>
            <a:ext cx="475488" cy="475488"/>
          </a:xfrm>
          <a:prstGeom prst="ellipse">
            <a:avLst/>
          </a:prstGeom>
          <a:solidFill>
            <a:srgbClr val="A6192E"/>
          </a:solidFill>
          <a:ln/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3435" y="3607491"/>
            <a:ext cx="228234" cy="228234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417320" y="3291840"/>
            <a:ext cx="329184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A61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the decision before the chart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4892040" y="3291840"/>
            <a:ext cx="708660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2B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chart with no decision attached is decoration. Field 8 of your canvas tells you what the reader must do — the chart exists to make that action obvious.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548640" y="4279392"/>
            <a:ext cx="11091672" cy="877824"/>
          </a:xfrm>
          <a:prstGeom prst="roundRect">
            <a:avLst>
              <a:gd name="adj" fmla="val 8333"/>
            </a:avLst>
          </a:prstGeom>
          <a:solidFill>
            <a:srgbClr val="F5F4F4"/>
          </a:solidFill>
          <a:ln/>
        </p:spPr>
      </p:sp>
      <p:sp>
        <p:nvSpPr>
          <p:cNvPr id="16" name="Shape 13"/>
          <p:cNvSpPr/>
          <p:nvPr/>
        </p:nvSpPr>
        <p:spPr>
          <a:xfrm>
            <a:off x="749808" y="4471416"/>
            <a:ext cx="475488" cy="475488"/>
          </a:xfrm>
          <a:prstGeom prst="ellipse">
            <a:avLst/>
          </a:prstGeom>
          <a:solidFill>
            <a:srgbClr val="A6192E"/>
          </a:solidFill>
          <a:ln/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435" y="4595043"/>
            <a:ext cx="228234" cy="228234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1417320" y="4279392"/>
            <a:ext cx="329184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A61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chart per message</a:t>
            </a:r>
            <a:endParaRPr lang="en-US" sz="1250" dirty="0"/>
          </a:p>
        </p:txBody>
      </p:sp>
      <p:sp>
        <p:nvSpPr>
          <p:cNvPr id="19" name="Text 15"/>
          <p:cNvSpPr/>
          <p:nvPr/>
        </p:nvSpPr>
        <p:spPr>
          <a:xfrm>
            <a:off x="4892040" y="4279392"/>
            <a:ext cx="708660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2B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for five charts and you will skim five. Ask for one, interrogate it, and ask what it should look like if your hypothesis is wrong.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548640" y="5266944"/>
            <a:ext cx="11091672" cy="877824"/>
          </a:xfrm>
          <a:prstGeom prst="roundRect">
            <a:avLst>
              <a:gd name="adj" fmla="val 8333"/>
            </a:avLst>
          </a:prstGeom>
          <a:solidFill>
            <a:srgbClr val="FBF1F2"/>
          </a:solidFill>
          <a:ln/>
        </p:spPr>
      </p:sp>
      <p:sp>
        <p:nvSpPr>
          <p:cNvPr id="21" name="Shape 17"/>
          <p:cNvSpPr/>
          <p:nvPr/>
        </p:nvSpPr>
        <p:spPr>
          <a:xfrm>
            <a:off x="749808" y="5458968"/>
            <a:ext cx="475488" cy="475488"/>
          </a:xfrm>
          <a:prstGeom prst="ellipse">
            <a:avLst/>
          </a:prstGeom>
          <a:solidFill>
            <a:srgbClr val="A6192E"/>
          </a:solidFill>
          <a:ln/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3435" y="5582595"/>
            <a:ext cx="228234" cy="228234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1417320" y="5266944"/>
            <a:ext cx="329184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A61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the reading, then check it</a:t>
            </a:r>
            <a:endParaRPr lang="en-US" sz="1250" dirty="0"/>
          </a:p>
        </p:txBody>
      </p:sp>
      <p:sp>
        <p:nvSpPr>
          <p:cNvPr id="24" name="Text 19"/>
          <p:cNvSpPr/>
          <p:nvPr/>
        </p:nvSpPr>
        <p:spPr>
          <a:xfrm>
            <a:off x="4892040" y="5266944"/>
            <a:ext cx="708660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2B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Making the model interpret its own chart exposes its errors — if its “first thing to notice” is not what YOU see, one of you is wrong. Find out which.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5105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5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BDAT05 · The Auditable Prompt · 12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61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7B · THE REPORT LAYER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76656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6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APA 7 — prompt for it, then verify it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11091672" cy="1055797"/>
          </a:xfrm>
          <a:prstGeom prst="roundRect">
            <a:avLst>
              <a:gd name="adj" fmla="val 6929"/>
            </a:avLst>
          </a:prstGeom>
          <a:solidFill>
            <a:srgbClr val="FBF1F2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517904"/>
            <a:ext cx="64008" cy="946069"/>
          </a:xfrm>
          <a:prstGeom prst="rect">
            <a:avLst/>
          </a:prstGeom>
          <a:solidFill>
            <a:srgbClr val="A6192E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572768"/>
            <a:ext cx="10543032" cy="8363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250" i="1" dirty="0">
                <a:solidFill>
                  <a:srgbClr val="2B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 the following for an APA 7 student paper: (1) the caption for this figure;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i="1" dirty="0">
                <a:solidFill>
                  <a:srgbClr val="2B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(2) this result as an APA statistics sentence; (3) reference entries for pandas, matplotlib,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i="1" dirty="0">
                <a:solidFill>
                  <a:srgbClr val="2B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an internal company dataset. Use my actual numbers: [paste output].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10222992" y="1316736"/>
            <a:ext cx="1280160" cy="292608"/>
          </a:xfrm>
          <a:prstGeom prst="roundRect">
            <a:avLst>
              <a:gd name="adj" fmla="val 37500"/>
            </a:avLst>
          </a:prstGeom>
          <a:solidFill>
            <a:srgbClr val="A6192E"/>
          </a:solidFill>
          <a:ln/>
        </p:spPr>
      </p:sp>
      <p:sp>
        <p:nvSpPr>
          <p:cNvPr id="9" name="Text 7"/>
          <p:cNvSpPr/>
          <p:nvPr/>
        </p:nvSpPr>
        <p:spPr>
          <a:xfrm>
            <a:off x="10222992" y="1316736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TYPE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548640" y="3063240"/>
            <a:ext cx="5408676" cy="2103120"/>
          </a:xfrm>
          <a:prstGeom prst="roundRect">
            <a:avLst>
              <a:gd name="adj" fmla="val 3478"/>
            </a:avLst>
          </a:prstGeom>
          <a:solidFill>
            <a:srgbClr val="F5F4F4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3200400"/>
            <a:ext cx="49514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61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good output looks like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77240" y="3566160"/>
            <a:ext cx="495147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b="1" dirty="0">
                <a:solidFill>
                  <a:srgbClr val="2B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1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i="1" dirty="0">
                <a:solidFill>
                  <a:srgbClr val="2B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Revenue by Branch, January–June 2026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2B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Note. Aggregated from point-of-sale records; no personal data.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400" dirty="0">
                <a:solidFill>
                  <a:srgbClr val="2B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2B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differed significantly across branches, F(5, 102) = 4.21, p &lt; .001.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231636" y="3063240"/>
            <a:ext cx="5408676" cy="2103120"/>
          </a:xfrm>
          <a:prstGeom prst="roundRect">
            <a:avLst>
              <a:gd name="adj" fmla="val 3478"/>
            </a:avLst>
          </a:prstGeom>
          <a:solidFill>
            <a:srgbClr val="F3E3C0"/>
          </a:solidFill>
          <a:ln/>
        </p:spPr>
      </p:sp>
      <p:sp>
        <p:nvSpPr>
          <p:cNvPr id="14" name="Text 12"/>
          <p:cNvSpPr/>
          <p:nvPr/>
        </p:nvSpPr>
        <p:spPr>
          <a:xfrm>
            <a:off x="6460236" y="3200400"/>
            <a:ext cx="49514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A6A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must verify yourself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60236" y="3566160"/>
            <a:ext cx="495147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2B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get APA subtly wrong — edition 6 habits, invented DOIs, fake page numbers. Check every caption against the official APA 7 style pages, and every reference against the real source. A citation you did not verify is a citation you fabricated.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5394960"/>
            <a:ext cx="11091672" cy="777240"/>
          </a:xfrm>
          <a:prstGeom prst="roundRect">
            <a:avLst>
              <a:gd name="adj" fmla="val 9412"/>
            </a:avLst>
          </a:prstGeom>
          <a:solidFill>
            <a:srgbClr val="5C101D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Remember: </a:t>
            </a:r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unverified citations are Tier 4 — the policy names them explicitly. This is the fastest way to fail with AI, and the easiest one to avoid.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5105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5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BDAT05 · The Auditable Prompt · 13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61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AUDIT MUSCLE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76656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6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Verification &amp; debugging — trust arrives by checking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508760"/>
            <a:ext cx="5408676" cy="1645920"/>
          </a:xfrm>
          <a:prstGeom prst="roundRect">
            <a:avLst>
              <a:gd name="adj" fmla="val 4444"/>
            </a:avLst>
          </a:prstGeom>
          <a:solidFill>
            <a:srgbClr val="FBF1F2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1709928"/>
            <a:ext cx="457200" cy="457200"/>
          </a:xfrm>
          <a:prstGeom prst="ellipse">
            <a:avLst/>
          </a:prstGeom>
          <a:solidFill>
            <a:srgbClr val="A6192E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1828800"/>
            <a:ext cx="219456" cy="21945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89888" y="1673352"/>
            <a:ext cx="43113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A61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errors verbatim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777240" y="2167128"/>
            <a:ext cx="49514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2B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“Here is the FULL error: [paste]. Explain the cause in one paragraph BEFORE proposing a fix.” Explanation-first stops the fix-that-breaks-two-other-things loop.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6231636" y="1508760"/>
            <a:ext cx="5408676" cy="1645920"/>
          </a:xfrm>
          <a:prstGeom prst="roundRect">
            <a:avLst>
              <a:gd name="adj" fmla="val 4444"/>
            </a:avLst>
          </a:prstGeom>
          <a:solidFill>
            <a:srgbClr val="F5F4F4"/>
          </a:solidFill>
          <a:ln/>
        </p:spPr>
      </p:sp>
      <p:sp>
        <p:nvSpPr>
          <p:cNvPr id="11" name="Shape 8"/>
          <p:cNvSpPr/>
          <p:nvPr/>
        </p:nvSpPr>
        <p:spPr>
          <a:xfrm>
            <a:off x="6460236" y="1709928"/>
            <a:ext cx="457200" cy="457200"/>
          </a:xfrm>
          <a:prstGeom prst="ellipse">
            <a:avLst/>
          </a:prstGeom>
          <a:solidFill>
            <a:srgbClr val="A6192E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9108" y="1828800"/>
            <a:ext cx="219456" cy="21945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072884" y="1673352"/>
            <a:ext cx="43113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A61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it attack its own code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6460236" y="2167128"/>
            <a:ext cx="49514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2B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“List three ways this code could be silently wrong for MY data.” Self-critique surfaces the dropped-rows and wrong-join bugs that fluent code hides.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548640" y="3291840"/>
            <a:ext cx="5408676" cy="1645920"/>
          </a:xfrm>
          <a:prstGeom prst="roundRect">
            <a:avLst>
              <a:gd name="adj" fmla="val 4444"/>
            </a:avLst>
          </a:prstGeom>
          <a:solidFill>
            <a:srgbClr val="F5F4F4"/>
          </a:solidFill>
          <a:ln/>
        </p:spPr>
      </p:sp>
      <p:sp>
        <p:nvSpPr>
          <p:cNvPr id="16" name="Shape 12"/>
          <p:cNvSpPr/>
          <p:nvPr/>
        </p:nvSpPr>
        <p:spPr>
          <a:xfrm>
            <a:off x="777240" y="3493008"/>
            <a:ext cx="457200" cy="457200"/>
          </a:xfrm>
          <a:prstGeom prst="ellipse">
            <a:avLst/>
          </a:prstGeom>
          <a:solidFill>
            <a:srgbClr val="A6192E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112" y="3611880"/>
            <a:ext cx="219456" cy="21945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89888" y="3456432"/>
            <a:ext cx="43113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A61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Recount by another route</a:t>
            </a:r>
            <a:endParaRPr lang="en-US" sz="1350" dirty="0"/>
          </a:p>
        </p:txBody>
      </p:sp>
      <p:sp>
        <p:nvSpPr>
          <p:cNvPr id="19" name="Text 14"/>
          <p:cNvSpPr/>
          <p:nvPr/>
        </p:nvSpPr>
        <p:spPr>
          <a:xfrm>
            <a:off x="777240" y="3950208"/>
            <a:ext cx="49514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2B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one number two ways: a groupby total against a filtered hand-count, one branch tallied manually. If two routes agree, trust rises. One route is faith.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6231636" y="3291840"/>
            <a:ext cx="5408676" cy="1645920"/>
          </a:xfrm>
          <a:prstGeom prst="roundRect">
            <a:avLst>
              <a:gd name="adj" fmla="val 4444"/>
            </a:avLst>
          </a:prstGeom>
          <a:solidFill>
            <a:srgbClr val="FBF1F2"/>
          </a:solidFill>
          <a:ln/>
        </p:spPr>
      </p:sp>
      <p:sp>
        <p:nvSpPr>
          <p:cNvPr id="21" name="Shape 16"/>
          <p:cNvSpPr/>
          <p:nvPr/>
        </p:nvSpPr>
        <p:spPr>
          <a:xfrm>
            <a:off x="6460236" y="3493008"/>
            <a:ext cx="457200" cy="457200"/>
          </a:xfrm>
          <a:prstGeom prst="ellipse">
            <a:avLst/>
          </a:prstGeom>
          <a:solidFill>
            <a:srgbClr val="A6192E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79108" y="3611880"/>
            <a:ext cx="219456" cy="219456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072884" y="3456432"/>
            <a:ext cx="43113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A61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Hunt the tautology</a:t>
            </a:r>
            <a:endParaRPr lang="en-US" sz="1350" dirty="0"/>
          </a:p>
        </p:txBody>
      </p:sp>
      <p:sp>
        <p:nvSpPr>
          <p:cNvPr id="24" name="Text 18"/>
          <p:cNvSpPr/>
          <p:nvPr/>
        </p:nvSpPr>
        <p:spPr>
          <a:xfrm>
            <a:off x="6460236" y="3950208"/>
            <a:ext cx="49514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2B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Ask: “Could any predictor already contain the target?” Same-period sales predicting same-period revenue is a mirror, not a model — the leakage lesson, automated.</a:t>
            </a:r>
            <a:endParaRPr lang="en-US" sz="1050" dirty="0"/>
          </a:p>
        </p:txBody>
      </p:sp>
      <p:sp>
        <p:nvSpPr>
          <p:cNvPr id="25" name="Shape 19"/>
          <p:cNvSpPr/>
          <p:nvPr/>
        </p:nvSpPr>
        <p:spPr>
          <a:xfrm>
            <a:off x="548640" y="5257800"/>
            <a:ext cx="11091672" cy="914400"/>
          </a:xfrm>
          <a:prstGeom prst="roundRect">
            <a:avLst>
              <a:gd name="adj" fmla="val 8000"/>
            </a:avLst>
          </a:prstGeom>
          <a:solidFill>
            <a:srgbClr val="5C101D"/>
          </a:solidFill>
          <a:ln/>
        </p:spPr>
      </p:sp>
      <p:sp>
        <p:nvSpPr>
          <p:cNvPr id="26" name="Text 20"/>
          <p:cNvSpPr/>
          <p:nvPr/>
        </p:nvSpPr>
        <p:spPr>
          <a:xfrm>
            <a:off x="822960" y="5394960"/>
            <a:ext cx="105430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standard, in one line:  </a:t>
            </a:r>
            <a:pPr indent="0" marL="0">
              <a:lnSpc>
                <a:spcPct val="112000"/>
              </a:lnSpc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“Fluency is not evidence.” The model earns nothing by sounding right. It earns trust when your checks — run by you, on your data — come back clean.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5105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5A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BDAT05 · The Auditable Prompt · 14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61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AUDIT TRAIL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76656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6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AI-use log — six lines per session</a:t>
            </a:r>
            <a:endParaRPr lang="en-US" sz="28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81328"/>
          <a:ext cx="11091672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8165592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Field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101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 entry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101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2B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 &amp; task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Sep · P3 EDA — distribution of branch-month revenue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2B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Tool &amp; conversation link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ChatGPT/Claude/Gemini · [shared conversation link]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4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2B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3 — model-drafted code under the course protocol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2B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Prompted for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Assistant brief · frame · plan · cleaning cell · 1 chart · APA caption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4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2B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Kept / changed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Kept plan steps 1–4; rejected step 5 (wrong grain); renamed 2 columns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2B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Verified by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4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validate() clean · groupby recount vs hand total · Restart &amp; Run all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4F4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3977640"/>
            <a:ext cx="11091672" cy="1691640"/>
          </a:xfrm>
          <a:prstGeom prst="roundRect">
            <a:avLst>
              <a:gd name="adj" fmla="val 4324"/>
            </a:avLst>
          </a:prstGeom>
          <a:solidFill>
            <a:srgbClr val="F5F4F4"/>
          </a:solidFill>
          <a:ln/>
        </p:spPr>
      </p:sp>
      <p:sp>
        <p:nvSpPr>
          <p:cNvPr id="7" name="Text 4"/>
          <p:cNvSpPr/>
          <p:nvPr/>
        </p:nvSpPr>
        <p:spPr>
          <a:xfrm>
            <a:off x="822960" y="4114800"/>
            <a:ext cx="1054303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b="1" dirty="0">
                <a:solidFill>
                  <a:srgbClr val="A61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habits make the log effortless:  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2B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(1) Use your LLM’s “share conversation” link — one URL preserves the whole exchange, prompts and all.  (2) Write the entry the moment you commit, while you still remember what you rejected — the “kept / changed” line is where your judgment shows, and it is what the viva panel reads first.  (3) Reference the entry in the commit message: “P3 EDA v1 — AI log #4.”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48640" y="5852160"/>
            <a:ext cx="11091672" cy="566928"/>
          </a:xfrm>
          <a:prstGeom prst="roundRect">
            <a:avLst>
              <a:gd name="adj" fmla="val 12903"/>
            </a:avLst>
          </a:prstGeom>
          <a:solidFill>
            <a:srgbClr val="FBF1F2"/>
          </a:solidFill>
          <a:ln/>
        </p:spPr>
      </p:sp>
      <p:sp>
        <p:nvSpPr>
          <p:cNvPr id="9" name="Text 6"/>
          <p:cNvSpPr/>
          <p:nvPr/>
        </p:nvSpPr>
        <p:spPr>
          <a:xfrm>
            <a:off x="822960" y="5852160"/>
            <a:ext cx="105430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A619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log is not a confession. It is professional practice — serious firms now require exactly this.</a:t>
            </a:r>
            <a:endParaRPr lang="en-US" sz="13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5C10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51052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79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BDAT05 · The Auditable Prompt · 15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CLOSING · PIN THIS NEXT TO YOUR KEYBOARD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76656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Ten habits that turn vibe coding into engineering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673352"/>
            <a:ext cx="384048" cy="384048"/>
          </a:xfrm>
          <a:prstGeom prst="ellipse">
            <a:avLst/>
          </a:prstGeom>
          <a:solidFill>
            <a:srgbClr val="8A1626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6733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97280" y="1572768"/>
            <a:ext cx="48463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Brief first, task second — never start cold.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423160"/>
            <a:ext cx="384048" cy="384048"/>
          </a:xfrm>
          <a:prstGeom prst="ellipse">
            <a:avLst/>
          </a:prstGeom>
          <a:solidFill>
            <a:srgbClr val="8A1626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423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97280" y="2322576"/>
            <a:ext cx="48463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Schema, never data. df.info() travels; rows do not.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3172968"/>
            <a:ext cx="384048" cy="384048"/>
          </a:xfrm>
          <a:prstGeom prst="ellipse">
            <a:avLst/>
          </a:prstGeom>
          <a:solidFill>
            <a:srgbClr val="8A1626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31729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97280" y="3072384"/>
            <a:ext cx="48463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before code. Approve it in writing.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922776"/>
            <a:ext cx="384048" cy="384048"/>
          </a:xfrm>
          <a:prstGeom prst="ellipse">
            <a:avLst/>
          </a:prstGeom>
          <a:solidFill>
            <a:srgbClr val="8A1626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39227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97280" y="3822192"/>
            <a:ext cx="48463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the model ask YOU questions — ambiguity is your fault to fix.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4672584"/>
            <a:ext cx="384048" cy="384048"/>
          </a:xfrm>
          <a:prstGeom prst="ellipse">
            <a:avLst/>
          </a:prstGeom>
          <a:solidFill>
            <a:srgbClr val="8A1626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46725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97280" y="4572000"/>
            <a:ext cx="48463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stage per message. Run it before asking for the next.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263640" y="1673352"/>
            <a:ext cx="384048" cy="384048"/>
          </a:xfrm>
          <a:prstGeom prst="ellipse">
            <a:avLst/>
          </a:prstGeom>
          <a:solidFill>
            <a:srgbClr val="8A1626"/>
          </a:solidFill>
          <a:ln/>
        </p:spPr>
      </p:sp>
      <p:sp>
        <p:nvSpPr>
          <p:cNvPr id="21" name="Text 19"/>
          <p:cNvSpPr/>
          <p:nvPr/>
        </p:nvSpPr>
        <p:spPr>
          <a:xfrm>
            <a:off x="6263640" y="16733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812280" y="1572768"/>
            <a:ext cx="48463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errors verbatim; demand the cause before the fix.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263640" y="2423160"/>
            <a:ext cx="384048" cy="384048"/>
          </a:xfrm>
          <a:prstGeom prst="ellipse">
            <a:avLst/>
          </a:prstGeom>
          <a:solidFill>
            <a:srgbClr val="8A1626"/>
          </a:solidFill>
          <a:ln/>
        </p:spPr>
      </p:sp>
      <p:sp>
        <p:nvSpPr>
          <p:cNvPr id="24" name="Text 22"/>
          <p:cNvSpPr/>
          <p:nvPr/>
        </p:nvSpPr>
        <p:spPr>
          <a:xfrm>
            <a:off x="6263640" y="2423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812280" y="2322576"/>
            <a:ext cx="48463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silent changes — print counts before and after everything.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263640" y="3172968"/>
            <a:ext cx="384048" cy="384048"/>
          </a:xfrm>
          <a:prstGeom prst="ellipse">
            <a:avLst/>
          </a:prstGeom>
          <a:solidFill>
            <a:srgbClr val="8A1626"/>
          </a:solidFill>
          <a:ln/>
        </p:spPr>
      </p:sp>
      <p:sp>
        <p:nvSpPr>
          <p:cNvPr id="27" name="Text 25"/>
          <p:cNvSpPr/>
          <p:nvPr/>
        </p:nvSpPr>
        <p:spPr>
          <a:xfrm>
            <a:off x="6263640" y="31729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812280" y="3072384"/>
            <a:ext cx="48463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one number by a second, model-free route.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263640" y="3922776"/>
            <a:ext cx="384048" cy="384048"/>
          </a:xfrm>
          <a:prstGeom prst="ellipse">
            <a:avLst/>
          </a:prstGeom>
          <a:solidFill>
            <a:srgbClr val="8A1626"/>
          </a:solidFill>
          <a:ln/>
        </p:spPr>
      </p:sp>
      <p:sp>
        <p:nvSpPr>
          <p:cNvPr id="30" name="Text 28"/>
          <p:cNvSpPr/>
          <p:nvPr/>
        </p:nvSpPr>
        <p:spPr>
          <a:xfrm>
            <a:off x="6263640" y="39227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812280" y="3822192"/>
            <a:ext cx="48463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conversation drifts, restart fresh: new chat, summary brief, current schema.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263640" y="4672584"/>
            <a:ext cx="384048" cy="384048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33" name="Text 31"/>
          <p:cNvSpPr/>
          <p:nvPr/>
        </p:nvSpPr>
        <p:spPr>
          <a:xfrm>
            <a:off x="6263640" y="46725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B26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812280" y="4572000"/>
            <a:ext cx="48463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as you go. You sign every line you submit.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48640" y="557784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model writes fast. The grade — and the audit — belong to the one who verifies.</a:t>
            </a:r>
            <a:endParaRPr lang="en-US" sz="1700" dirty="0"/>
          </a:p>
        </p:txBody>
      </p:sp>
      <p:sp>
        <p:nvSpPr>
          <p:cNvPr id="36" name="Text 34"/>
          <p:cNvSpPr/>
          <p:nvPr/>
        </p:nvSpPr>
        <p:spPr>
          <a:xfrm>
            <a:off x="548640" y="598932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BD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prompt is part of the work. So is the proof.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BDAT05 — The Auditable Prompt</dc:title>
  <dc:subject>PptxGenJS Presentation</dc:subject>
  <dc:creator>Jerald B. Bongalos</dc:creator>
  <cp:lastModifiedBy>Jerald B. Bongalos</cp:lastModifiedBy>
  <cp:revision>1</cp:revision>
  <dcterms:created xsi:type="dcterms:W3CDTF">2026-08-27T04:57:56Z</dcterms:created>
  <dcterms:modified xsi:type="dcterms:W3CDTF">2026-08-27T04:57:56Z</dcterms:modified>
</cp:coreProperties>
</file>
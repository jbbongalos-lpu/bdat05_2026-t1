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 presents first thing — springboard only, no assessment; his work sets up the whole day. Last teaching session before the Prelim (12 Sep) — the close briefs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 comes from Studio pair time, never the commit block. Anthonne &amp; Teyen: no ceremony — the sheet has a quick-start box; P2 package still owed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Springboard, not assessment — thank him, no scores aloud. If AJ lands the signal-vs-structure point himself, hand him the day: “you just taught slide 3.” Transition: “EDA is the discipline of telling those two apart.”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Celebrations are anonymous-but-obvious (B07 = AJ, 108 = Lawrence) — praise the MOVES. No scores aloud. The contracts come from their own feedback; frame as class law now, not personal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BDAT04 warmly — descriptive skill is real skill, they have it; today adds a lens, not a replacement. Then open Colab: the demo notebook carries the next four slides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demo notebook Steps 1–3 live here. Ask before revealing skew: “if mean &gt; median, what shape is the data?” Let them reason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4. Ask the room for the verdict BEFORE giving it — someone will say delete; make them defend it, then show the staffing consequence.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5. The three checks become the reusable rubric for every “I found a pattern!” claim in the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6. This slide is the hinge of the session — everything in Hunt the Leak flows from “correlation ranks, calendar disqualifies.” Say it three times; it is the exam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2 is the one they will miss — AvgTicket correlates near ZERO with the target yet is pure leakage. Leakage is about information flow, not correlation strength. Do not reveal which columns; the table names species, the hunt finds specimens.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7. AJ’s zero-positives discovery is the classification version of the same idea — with base rate near 100% “stays,” accuracy is a lie and “assume everyone stays” is nearly unbeatable. One breath on that; Week 8 owns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Circulate. A2/A3 answers feed straight into their C4 memo — say so at the 20-minute mark. Watch Anthonne’s pace; the quick-start is his on-ramp, no public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five leaks: MonthSalesTotal (target copy, r=1.00) · OrderCount (concurrent, r=.98) · QuarterRevenueTotal (temporal, r=.94) · RefundsProcessed (post-outcome, r=.61) · AvgTicket (derived ratio, r=.05 — THE sneaky one). Clean: MonthNo, PromoDaysPlanned, StaffHoursScheduled (built from prev month), PrevMonthOrders, PrevMonthRevenue. Debrief AvgTicket last — low correlation, pure leak: information flow beats correlation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AI-log reminder while they work: conversation LINK required this time, per-stage entries, and at least one recorded rejection. Their P2 letters both said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courses have prelims on 12 Sep — acknowledge the double-header, point them to schedule study time. Pending P2s: those students sit the Prelim too; the missing package hurts criterion 2 — one more reason to close it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ritual unchanged: one finding aloud each, in the memo’s shape — signal, number, verdict. Close on the rule of the day; it is the one sentence they must carry into the Prelim.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OF 13 · SATURDAY, 5 SEPTEMBER 2026 · 1:00–5:00 PM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Interrogation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predictive signal — what your table already knows, and where it will lie to you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3713561"/>
            <a:ext cx="272125" cy="272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2588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81" y="3713561"/>
            <a:ext cx="272125" cy="272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0312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521" y="3713561"/>
            <a:ext cx="272125" cy="2721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8036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761" y="3713561"/>
            <a:ext cx="272125" cy="27212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65760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5001" y="3713561"/>
            <a:ext cx="272125" cy="2721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4251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 presents  ·  EDA for prediction  ·  Live demo  ·  Hunt the Leak  ·  P3 Studio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4864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chart gets the same question: does this help me predict — or does it just describe?”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7498080" y="576072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Jerald B. Bongalos</a:t>
            </a:r>
            <a:endParaRPr lang="en-US" sz="140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— Fundamentals of Predictive Analytics · LPU–Laguna CBA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of show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184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1:15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57276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builder speaks — AJ presents his P2 (one question from each of you)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30552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305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comes back — and the two contracts P3 inherits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426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2:00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5968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 prediction, not description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– 2:30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traps — correlation, leakage, base rates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667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– 3:15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362102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 · Interrogate YOUR slice (sheet Part A)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178808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D8CFC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78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– 3:25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41330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690872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690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3:25 – 3:50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46451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THE LEAK — ten columns, five liars (Part B)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202936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5C101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202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3:50 – 4:40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515721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STUDIO — charts, audit, memo (Part C)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7150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15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4:40 – 4:50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40280" y="5669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6227064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62270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4:50 – 5:00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61813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— Prelim briefing for next Saturday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052560" y="1572768"/>
            <a:ext cx="2587752" cy="2743200"/>
          </a:xfrm>
          <a:prstGeom prst="roundRect">
            <a:avLst>
              <a:gd name="adj" fmla="val 2827"/>
            </a:avLst>
          </a:prstGeom>
          <a:solidFill>
            <a:srgbClr val="FBF1F2"/>
          </a:solidFill>
          <a:ln/>
        </p:spPr>
      </p:sp>
      <p:sp>
        <p:nvSpPr>
          <p:cNvPr id="36" name="Shape 34"/>
          <p:cNvSpPr/>
          <p:nvPr/>
        </p:nvSpPr>
        <p:spPr>
          <a:xfrm>
            <a:off x="9308592" y="1828800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9351" y="1959559"/>
            <a:ext cx="241402" cy="24140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308592" y="2450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first, then you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308592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interrogate a slice nobody owns (branch-day revenue), live in Colab. Then you run the same moves on YOUR slice. Part C of the sheet IS your P3.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· FIRST, A BUILDER SPEAKS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 presents his P2 — and hands us today’s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46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minutes: the pivot he made, the B07 branch he found, and the table he built.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468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from each of you. Real ones — “what would you do differently?” beats “nice slides.”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46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 to ONE moment: his chart put branch B07 on top of the retention-priority list. B07 is also the newest branch.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5C101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62272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his work leaves on the table: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low tenure at B07 a warning sign — or just what a young branch looks like?”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Signal, or structure? That single question is what today’s entire session exists to answer — for every slice in this room.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· P2 COMES BACK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strong builds — and the two contracts P3 inherits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BF1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celebrating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referential catch that found an entire undocumented branch — investigated, kept, documented.  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108-row table that matched its P1 promise to the row — the first time a promise and its table have agreed in this class.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5F4F4"/>
          </a:solidFill>
          <a:ln/>
        </p:spPr>
      </p:sp>
      <p:sp>
        <p:nvSpPr>
          <p:cNvPr id="9" name="Text 7"/>
          <p:cNvSpPr/>
          <p:nvPr/>
        </p:nvSpPr>
        <p:spPr>
          <a:xfrm>
            <a:off x="6473952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in your repo folder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3952" y="19659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p2-data-preparation → FEEDBACK.md. Read your two fixes at the next pause — they are P3 instructions in disguise. Pending P2s: the quick-start box on today’s sheet gets you building; the package is still owed.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5C101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93592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93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35387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cells are graded — starting today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931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of bare code caps at Developing, no matter how good the code is. Every chart, every output: one sentence of what it says, one of what it means for prediction. The demo models it; the sheet requires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3E3C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919472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19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486460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first, minimize second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257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raw column — type, range, completeness — BEFORE you drop what privacy or purpose doesn’t need. One of your files hid an impossible value inside a column that got dropped unexamined. Minimization protects people, never errors.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· THE IDEA OF THE 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for prediction, not description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08676" cy="2834640"/>
          </a:xfrm>
          <a:prstGeom prst="roundRect">
            <a:avLst>
              <a:gd name="adj" fmla="val 2581"/>
            </a:avLst>
          </a:prstGeom>
          <a:solidFill>
            <a:srgbClr val="F5F4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EDA (your BDAT04 muscle)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9514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what happened?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“B01 leads revenue.” “Cash is the top payment method.” “Sales dipped in June.”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True, useful, and complete the moment it is said. A dashboard is its natural home.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463040"/>
            <a:ext cx="5408676" cy="2834640"/>
          </a:xfrm>
          <a:prstGeom prst="roundRect">
            <a:avLst>
              <a:gd name="adj" fmla="val 2581"/>
            </a:avLst>
          </a:prstGeom>
          <a:solidFill>
            <a:srgbClr val="FBF1F2"/>
          </a:solidFill>
          <a:ln/>
        </p:spPr>
      </p:sp>
      <p:sp>
        <p:nvSpPr>
          <p:cNvPr id="9" name="Text 7"/>
          <p:cNvSpPr/>
          <p:nvPr/>
        </p:nvSpPr>
        <p:spPr>
          <a:xfrm>
            <a:off x="6460236" y="1627632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EDA (this course)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60236" y="2057400"/>
            <a:ext cx="49514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what travels forward?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weekend premium repeat reliably enough to staff by?” “Is this pattern knowable in advance?” “Will this correlation survive the calendar test?”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charts, different question — and the question changes every verdict.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5C101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63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every chart takes today:  </a:t>
            </a:r>
            <a:pPr indent="0" marL="0">
              <a:lnSpc>
                <a:spcPct val="113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this help me predict — or does it just describe?” Both answers are allowed. Only one goes in the signal memo.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deliverable today (P3): an EDA notebook with annotated charts · a leakage audit table · a base-rate note · a predictive-signal memo.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average honest? — distributions and skew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925622"/>
          </a:xfrm>
          <a:prstGeom prst="roundRect">
            <a:avLst>
              <a:gd name="adj" fmla="val 7903"/>
            </a:avLst>
          </a:prstGeom>
          <a:solidFill>
            <a:srgbClr val="2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36192"/>
            <a:ext cx="6217920" cy="77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bd["Revenue"].describe()   # mean 799 · median 730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bd["Revenue"].skew()       # +1.15 — right-skewed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bd["Revenue"].hist(bins=50)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06440" y="131673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2B2626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NOTEBOOK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4142232" cy="1508760"/>
          </a:xfrm>
          <a:prstGeom prst="roundRect">
            <a:avLst>
              <a:gd name="adj" fmla="val 4848"/>
            </a:avLst>
          </a:prstGeom>
          <a:solidFill>
            <a:srgbClr val="FBF1F2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1581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slice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26680" y="189280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Branch-DAY revenue — 3,143 rows, a grain nobody owns. Your P3 runs the same moves on YOUR slice.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BF1F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4612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₱799 · median ₱730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77640" y="3246120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sits ABOVE the median — a long right tail of big days drags it up. The “average day” is already slightly fictional.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42232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5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4223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+1.15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77640" y="4142232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trivia — a staffing decision in disguise: a model aimed at the mean over-shoots the typical day and still misses the big ones.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038344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BF1F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038344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10, again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5038344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miss costs more decides where your forecast should lean. The distribution just told you the question is real.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days refuse to be typical — dirt, or loud truth?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665849"/>
          </a:xfrm>
          <a:prstGeom prst="roundRect">
            <a:avLst>
              <a:gd name="adj" fmla="val 10986"/>
            </a:avLst>
          </a:prstGeom>
          <a:solidFill>
            <a:srgbClr val="2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36192"/>
            <a:ext cx="6217920" cy="51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fence = q3 + 1.5*(q3 - q1)   # = ₱1,922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bd[bd["Revenue"] &gt; fence]    # 87 branch-days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06440" y="131673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2B2626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NOTEBOOK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4142232" cy="1234440"/>
          </a:xfrm>
          <a:prstGeom prst="roundRect">
            <a:avLst>
              <a:gd name="adj" fmla="val 5926"/>
            </a:avLst>
          </a:prstGeom>
          <a:solidFill>
            <a:srgbClr val="F3E3C0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16002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champion: </a:t>
            </a:r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B02, 13 Mar 2026 — ₱3,345 from only 5 orders. ~₱670 per order vs ₱230 typical.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5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7180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fence is a flashlight, not a judge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you unusual rows. It does not tell you to delete them. Every outlier gets interrogated individually.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67912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5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6791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is a big-ticket day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3867912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orders, huge total — merchandise or a bulk buy. That is HOW big days happen. Delete it and your model learns big days don’t exist.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64024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BF1F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6402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verdict: KEEP, and FLAG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26280" y="4764024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 as the flagged giant deliveries in P2. Write it in the log: issue → decision → reason. Judgment is the graded part.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A4 task asks for exactly one ruling like this, on your own most extreme row.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PART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weekend premium — what clean signal looks like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2471092"/>
            <a:ext cx="658368" cy="1735148"/>
          </a:xfrm>
          <a:prstGeom prst="rect">
            <a:avLst/>
          </a:prstGeom>
          <a:solidFill>
            <a:srgbClr val="C9BEBE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21784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₱724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2408780"/>
            <a:ext cx="658368" cy="1797460"/>
          </a:xfrm>
          <a:prstGeom prst="rect">
            <a:avLst/>
          </a:prstGeom>
          <a:solidFill>
            <a:srgbClr val="C9BEBE"/>
          </a:solidFill>
          <a:ln/>
        </p:spPr>
      </p:sp>
      <p:sp>
        <p:nvSpPr>
          <p:cNvPr id="9" name="Text 7"/>
          <p:cNvSpPr/>
          <p:nvPr/>
        </p:nvSpPr>
        <p:spPr>
          <a:xfrm>
            <a:off x="1563624" y="21161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₱750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6362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463902"/>
            <a:ext cx="658368" cy="1742338"/>
          </a:xfrm>
          <a:prstGeom prst="rect">
            <a:avLst/>
          </a:prstGeom>
          <a:solidFill>
            <a:srgbClr val="C9BEBE"/>
          </a:solidFill>
          <a:ln/>
        </p:spPr>
      </p:sp>
      <p:sp>
        <p:nvSpPr>
          <p:cNvPr id="12" name="Text 10"/>
          <p:cNvSpPr/>
          <p:nvPr/>
        </p:nvSpPr>
        <p:spPr>
          <a:xfrm>
            <a:off x="2478024" y="217129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₱727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7802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415970"/>
            <a:ext cx="658368" cy="1790270"/>
          </a:xfrm>
          <a:prstGeom prst="rect">
            <a:avLst/>
          </a:prstGeom>
          <a:solidFill>
            <a:srgbClr val="C9BEBE"/>
          </a:solidFill>
          <a:ln/>
        </p:spPr>
      </p:sp>
      <p:sp>
        <p:nvSpPr>
          <p:cNvPr id="15" name="Text 13"/>
          <p:cNvSpPr/>
          <p:nvPr/>
        </p:nvSpPr>
        <p:spPr>
          <a:xfrm>
            <a:off x="3392424" y="212336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₱747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9242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480679"/>
            <a:ext cx="658368" cy="1725561"/>
          </a:xfrm>
          <a:prstGeom prst="rect">
            <a:avLst/>
          </a:prstGeom>
          <a:solidFill>
            <a:srgbClr val="C9BEBE"/>
          </a:solidFill>
          <a:ln/>
        </p:spPr>
      </p:sp>
      <p:sp>
        <p:nvSpPr>
          <p:cNvPr id="18" name="Text 16"/>
          <p:cNvSpPr/>
          <p:nvPr/>
        </p:nvSpPr>
        <p:spPr>
          <a:xfrm>
            <a:off x="4306824" y="2188071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₱720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0682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1828800"/>
            <a:ext cx="658368" cy="2377440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21" name="Text 19"/>
          <p:cNvSpPr/>
          <p:nvPr/>
        </p:nvSpPr>
        <p:spPr>
          <a:xfrm>
            <a:off x="5221224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₱992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2122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989373"/>
            <a:ext cx="658368" cy="2216867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24" name="Text 22"/>
          <p:cNvSpPr/>
          <p:nvPr/>
        </p:nvSpPr>
        <p:spPr>
          <a:xfrm>
            <a:off x="6135624" y="169676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₱925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3562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revenue per branch-day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1463040"/>
            <a:ext cx="4142232" cy="3063240"/>
          </a:xfrm>
          <a:prstGeom prst="roundRect">
            <a:avLst>
              <a:gd name="adj" fmla="val 2388"/>
            </a:avLst>
          </a:prstGeom>
          <a:solidFill>
            <a:srgbClr val="FBF1F2"/>
          </a:solidFill>
          <a:ln/>
        </p:spPr>
      </p:sp>
      <p:sp>
        <p:nvSpPr>
          <p:cNvPr id="28" name="Text 26"/>
          <p:cNvSpPr/>
          <p:nvPr/>
        </p:nvSpPr>
        <p:spPr>
          <a:xfrm>
            <a:off x="7726680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good kind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26680" y="1993392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30% premium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Sat–Sun over the weekday plateau — large, consistent, and: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6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Knowable in advance — the calendar never surprises anyone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Connected to the decision — weekend staffing IS the action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enough to beat a flat average on its own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6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signal memo — with the number, not an adjective.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8920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5C101D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0292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checks of a clean signal: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knowable in advance · tied to the decision · big enough to matter. Your A3 answer must pass all three.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PART 4 · TRAP NO.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0.73 — strong, real, and useless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406077"/>
          </a:xfrm>
          <a:prstGeom prst="roundRect">
            <a:avLst>
              <a:gd name="adj" fmla="val 18014"/>
            </a:avLst>
          </a:prstGeom>
          <a:solidFill>
            <a:srgbClr val="2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36192"/>
            <a:ext cx="6217920" cy="25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bd["Orders"].corr(bd["Revenue"])   # 0.734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06440" y="131673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2B2626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NOTEBOOK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4142232" cy="1051560"/>
          </a:xfrm>
          <a:prstGeom prst="roundRect">
            <a:avLst>
              <a:gd name="adj" fmla="val 6957"/>
            </a:avLst>
          </a:prstGeom>
          <a:solidFill>
            <a:srgbClr val="F5F4F4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157276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vs revenue, per branch-day. Obviously related. Genuinely correlated. So what’s wrong?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5C101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07792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know today’s order count, today must already have happened.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which point you no longer need the forecast. A predictor measured AT THE SAME TIME as the outcome is concurrent leakage — a cause costume on an effect.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3E3C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720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the day:  </a:t>
            </a:r>
            <a:pPr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RANKS candidates; the calendar DISQUALIFIES them. Ask every column: knowable on the morning I predict? Yes → candidate. No → leak.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that keeps the signal: use YESTERDAY’s orders (a lag) to predict today — same information, legal timing. Teyen already met this lesson in her P1.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NO. 2 · THE TAXONOMY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a column cheats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063240"/>
                <a:gridCol w="3749040"/>
                <a:gridCol w="25877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Kape Tayo 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you catch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copy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target, renamed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“MonthSalesTotal” next to a revenue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≈ 1.00 — blatant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formula containing the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AvgTicket = Revenue ÷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the formula — correlation may look INNOCENT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at the same time as the 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month’s order count “predicting” this month’s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calendar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Happens after / because of the 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 processed during the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what caused what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 that include the future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 total, used mid-quarter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window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5C101D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5720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leakage is the cardinal sin: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leaky model aces every test you run and fails on its first real morning — the one failure mode that looks exactly like success until it costs money.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table open during Hunt the Leak. All five species are loose in that file.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NO.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rates — three numbers before any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14344" cy="2926080"/>
          </a:xfrm>
          <a:prstGeom prst="roundRect">
            <a:avLst>
              <a:gd name="adj" fmla="val 2500"/>
            </a:avLst>
          </a:prstGeom>
          <a:solidFill>
            <a:srgbClr val="FBF1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walk-ins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57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CustomerID at all. Any customer-level model sees only half the business. Teyen’s future headache — known today.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463040"/>
            <a:ext cx="3514344" cy="2926080"/>
          </a:xfrm>
          <a:prstGeom prst="roundRect">
            <a:avLst>
              <a:gd name="adj" fmla="val 2500"/>
            </a:avLst>
          </a:prstGeom>
          <a:solidFill>
            <a:srgbClr val="F5F4F4"/>
          </a:solidFill>
          <a:ln/>
        </p:spPr>
      </p:sp>
      <p:sp>
        <p:nvSpPr>
          <p:cNvPr id="10" name="Text 8"/>
          <p:cNvSpPr/>
          <p:nvPr/>
        </p:nvSpPr>
        <p:spPr>
          <a:xfrm>
            <a:off x="4565904" y="169164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55.6%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65904" y="237744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payments are Cash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65904" y="2926080"/>
            <a:ext cx="3057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GCash is 31.9%, Card 12.5%. The “digital is taking over” story dies against this number.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5968" y="1463040"/>
            <a:ext cx="3514344" cy="2926080"/>
          </a:xfrm>
          <a:prstGeom prst="roundRect">
            <a:avLst>
              <a:gd name="adj" fmla="val 2500"/>
            </a:avLst>
          </a:prstGeom>
          <a:solidFill>
            <a:srgbClr val="F3E3C0"/>
          </a:solidFill>
          <a:ln/>
        </p:spPr>
      </p:sp>
      <p:sp>
        <p:nvSpPr>
          <p:cNvPr id="14" name="Text 12"/>
          <p:cNvSpPr/>
          <p:nvPr/>
        </p:nvSpPr>
        <p:spPr>
          <a:xfrm>
            <a:off x="8354568" y="1691640"/>
            <a:ext cx="305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54568" y="237744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carry the weekend premium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54568" y="2926080"/>
            <a:ext cx="3057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forecast smears the weekend across the week — the base rate IS the naive model your field 11 promised to beat.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5C101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006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rates don’t predict — they CALIBRATE.  </a:t>
            </a:r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floor every model must beat and the context every percentage lives in. Your C3 task computes YOUR track’s base rate — every claim in your memo should be able to stand next to it.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 · 2:30 – 3:15 · SHEET PART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Interrogate your own slice — everyone types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9692640" cy="822960"/>
          </a:xfrm>
          <a:prstGeom prst="roundRect">
            <a:avLst>
              <a:gd name="adj" fmla="val 8889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746504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4650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&amp; re-handshake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150876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P2 slice, back on the table. Count your rows — do they still match?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74352" y="1746504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674352" y="17465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9692640" cy="822960"/>
          </a:xfrm>
          <a:prstGeom prst="roundRect">
            <a:avLst>
              <a:gd name="adj" fmla="val 8889"/>
            </a:avLst>
          </a:prstGeom>
          <a:solidFill>
            <a:srgbClr val="F5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679192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791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4414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average honest?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2441448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· skew() · histogram. Mean vs median, and what a mean-chaser would get wrong.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74352" y="2679192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9674352" y="26791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9692640" cy="822960"/>
          </a:xfrm>
          <a:prstGeom prst="roundRect">
            <a:avLst>
              <a:gd name="adj" fmla="val 8889"/>
            </a:avLst>
          </a:prstGeom>
          <a:solidFill>
            <a:srgbClr val="FBF1F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611880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61188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37413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rhythm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337413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your measure over time. Find the strongest repeating pattern — WITH a number attached.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74352" y="3611880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9674352" y="3611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13’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306824"/>
            <a:ext cx="9692640" cy="822960"/>
          </a:xfrm>
          <a:prstGeom prst="roundRect">
            <a:avLst>
              <a:gd name="adj" fmla="val 8889"/>
            </a:avLst>
          </a:prstGeom>
          <a:solidFill>
            <a:srgbClr val="F5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4544568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54456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430682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outlier hunt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51960" y="430682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Fence, count, then RULE on your most extreme row — keep / flag / drop, with a reason.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74352" y="4544568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9674352" y="4544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469880" y="1508760"/>
            <a:ext cx="1170432" cy="3621024"/>
          </a:xfrm>
          <a:prstGeom prst="roundRect">
            <a:avLst>
              <a:gd name="adj" fmla="val 6250"/>
            </a:avLst>
          </a:prstGeom>
          <a:solidFill>
            <a:srgbClr val="5C101D"/>
          </a:solidFill>
          <a:ln/>
        </p:spPr>
      </p:sp>
      <p:sp>
        <p:nvSpPr>
          <p:cNvPr id="34" name="Text 32"/>
          <p:cNvSpPr/>
          <p:nvPr/>
        </p:nvSpPr>
        <p:spPr>
          <a:xfrm rot="5400000">
            <a:off x="9244584" y="2734056"/>
            <a:ext cx="3621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 E R Y   C H A R T   G E T S   A   R E A D I N G   C E L 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3E3C0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4864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P2 slice yet?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quick-start box at the top of the sheet builds a working slice in ten lines. Start there, catch up quietly — your P2 package is still owed, but today you move WITH the class.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THE LEAK · 3:25 – 3:50 · SHEET PART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columns walk in. Five are lying.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766560" cy="1600200"/>
          </a:xfrm>
          <a:prstGeom prst="roundRect">
            <a:avLst>
              <a:gd name="adj" fmla="val 4571"/>
            </a:avLst>
          </a:prstGeom>
          <a:solidFill>
            <a:srgbClr val="FBF1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3852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morning of the month. The Ops lead must predict the month’s revenue per branch (MonthRevenue_TARGET) to set staffing and stock. hunt_the_leak.csv offers ten candidate predictors. Audit all ten: knowable on day 1 — yes or no?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0" y="1463040"/>
            <a:ext cx="4050792" cy="863277"/>
          </a:xfrm>
          <a:prstGeom prst="roundRect">
            <a:avLst>
              <a:gd name="adj" fmla="val 8474"/>
            </a:avLst>
          </a:prstGeom>
          <a:solidFill>
            <a:srgbClr val="2E2A2B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536192"/>
            <a:ext cx="3593592" cy="71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hunt = pd.read_csv(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drive_url("&lt;FILE_ID&gt;"))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hunt.corr(numeric_only=True)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222992" y="131673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2B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0222992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CELL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BF1F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weapon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3375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Kape Tayo know this number on the morning of day 1?” The calendar test, ten times.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7880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788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warning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26080" y="417880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planted leak has a near-ZERO correlation. The correlation matrix will not save you — only the question will.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020056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BF1F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02005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prize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26080" y="5020056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correctly name all five liars — with reasons — chooses who presents first at the Prelim.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C1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question 7: which leak is the SNEAKIEST — the one a careless model would carry to production?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STUDIO · 3:50 – 4:40 · SHEET PART 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EDA package — your table, made to talk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64208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6420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48132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annotated charts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481328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Titled, labeled, and READ — a Markdown cell under each: what it shows, what it means for prediction.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652760" y="1664208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0652760" y="1664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468880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46888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28600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audit — your predictors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P1 field 7 list + anything EDA suggested, through the calendar test. Same table as the hunt.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652760" y="2468880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0652760" y="2468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9067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BF1F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273552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27355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0906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Base-rate note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63440" y="309067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track’s number (sheet table) + one sentence of implication.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652760" y="3273552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10652760" y="32735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8’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95344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5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4078224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A6192E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07822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389534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memo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3895344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sentences to your P1 reader — a NUMBER in every slot, an adjective in none.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652760" y="4078224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10652760" y="40782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700016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BF1F2"/>
          </a:solidFill>
          <a:ln/>
        </p:spPr>
      </p:sp>
      <p:sp>
        <p:nvSpPr>
          <p:cNvPr id="34" name="Shape 32"/>
          <p:cNvSpPr/>
          <p:nvPr/>
        </p:nvSpPr>
        <p:spPr>
          <a:xfrm>
            <a:off x="713232" y="4882896"/>
            <a:ext cx="566928" cy="347472"/>
          </a:xfrm>
          <a:prstGeom prst="roundRect">
            <a:avLst>
              <a:gd name="adj" fmla="val 31579"/>
            </a:avLst>
          </a:prstGeom>
          <a:solidFill>
            <a:srgbClr val="5C101D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488289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463040" y="470001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commit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663440" y="4700016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(Restart &amp; Run all, reading cells) + audit + note + memo + AI log WITH conversation link.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652760" y="4882896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10652760" y="48828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7’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5C101D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6235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follows the P1/P2 rule: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in-session, committed by 5:00, copy-editing until 11:59 tonight. Stuck 5 minutes → say so → we fix it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4:50 · NEXT SATURDAY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Prelim — what you walk in with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097280"/>
                <a:gridCol w="5239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A 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you earn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framing &amp; decision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P1 canvas, revised through every fix since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 &amp;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P2 package — dictionary, validation, cleaning 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Lawful &amp; ethical data handling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Lawful basis, RA 10173 BY NAME, retention 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analysis &amp; leakage 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Today’s P3 — charts read, leaks caught, base rates stated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justification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minutes, every decision, WITHOUT 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80560"/>
            <a:ext cx="10543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prepare (this is the whole secret):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48463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own three feedback letters — every fix listed there is a Prelim question I already told you the answer to.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rehearse aloud once: “my decision, my reason” for every row of your cleaning log. The oral is not a memory test — any canvas you cannot explain without notes is treated as unauthenticated, so the preparation is understanding, not memorizing.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block: today’s EDA work, at 30%. You are building your Prelim right now.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C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4 · Week 4 ·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table talked today.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of it was even true.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in: a decision framed, a table built, and now — interrogated. You found the signal that travels forward, caught the columns that cheat, and wrote the floor your first model must beat. Next Saturday you defend all of it, out loud.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983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“Correlation ranks the candidates. The calendar disqualifies them.”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Jerald B. Bongalos  ·  BDAT05 — Fundamentals of Predictive Analytics  ·  LPU–Laguna CBA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BDAT05 Session 4 — The Interrogation</dc:title>
  <dc:subject>PptxGenJS Presentation</dc:subject>
  <dc:creator>Jerald B. Bongalos</dc:creator>
  <cp:lastModifiedBy>Jerald B. Bongalos</cp:lastModifiedBy>
  <cp:revision>1</cp:revision>
  <dcterms:created xsi:type="dcterms:W3CDTF">2026-09-04T10:09:34Z</dcterms:created>
  <dcterms:modified xsi:type="dcterms:W3CDTF">2026-09-04T10:09:34Z</dcterms:modified>
</cp:coreProperties>
</file>
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Bridging module check happens quietly during opening. Angus: brief private word at the door before class — submission plan, no public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 rule: if Lab I overruns, take minutes from the Studio pair-phase — never from the commit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individual scores aloud, ever. The celebration block is genuine — say it before any critique. Angus reads the assignment sheet instead and drafts his field 1 during the next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Anthonne's feedback contains a worked rewrite of his own field 1 — if he uses it, praise the reuse; that is what feedback is for. Angus drafts his fresh here and joins on equal footing.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Lawrence FIND the stockout gap himself — the discovery lands harder than the correction. Tie forward: this is Type I/II with pesos; the crash course will formalize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Eliah's case entirely as a discovery — the class's best field 5 produced the class's best lesson. All three canvases had grain wobble (monthly/weekly, product/company, day/month); hers is just the clearest teacher.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Activation, not lecture — the advance reading carried this. Ask who did the warm-up and what errored; errors go on the board as Lab I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TODAY rows and the done-check on Python (bridging). The stack metaphor matters: sklearn returns pandas/NumPy objects; everything interoperates because it is one ecosystem — the third reason Python wins over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the handshake on the real sales file while they watch — then Lab I has them do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promised SQL-translation moment — 30 seconds per row, read the SQL column aloud once. The message: relational THINKING is the skill; pandas and SQL are two spellings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Pace to the slowest screen. Anthonne gets the first circulation pass. The A4 orphan discovery sets up Part B — do not explain it fully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function line-by-line together; they extend it in Part C. Do NOT reveal the defect register — discovery is the pedagogy.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deliberately placed minutes before the Studio so the statement is written while the concept is warm. Giving Angus the exemplar role is also the lift plan: high-stakes responsibility in his strongest ethical position after his missed P1 — a dignity move, not a punishment.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promise as P1 — say it with the same smile. Circulation priority: Anthonne → Angus (his first production task after the miss) → Eliah → Lawrence.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phase optional for the first 10 minutes if energy is low. Minimum acceptable at 4:35: slice built + dictionary started + 3 logged findings; polish is copy-editing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time. Note who needed which kind of help during the Studio — it calibrates the W5 prelim difficulty.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Angus's P1 submission plan before he leaves. Log Studio observations while 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OF 13 · SATURDAY, 29 AUGUST 2026 · 1:00–5:00 PM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Contact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canvas meets the data — pandas, validation, and P2 finished today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3713561"/>
            <a:ext cx="272125" cy="272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2588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81" y="3713561"/>
            <a:ext cx="272125" cy="272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0312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521" y="3713561"/>
            <a:ext cx="272125" cy="2721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8036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761" y="3713561"/>
            <a:ext cx="272125" cy="27212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657600" y="356616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5001" y="3713561"/>
            <a:ext cx="272125" cy="2721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42519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feedback  ·  The toolbox  ·  First contact labs  ·  Privacy clinic  ·  P2 Studio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4864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“Last week you promised a table. Today you build it.”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7498080" y="576072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Jerald B. Bongalos</a:t>
            </a:r>
            <a:endParaRPr lang="en-US" sz="140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— Fundamentals of Predictive Analytics · LPU–Laguna CBA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of show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934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1:10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572768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folder — P1 feedback, read silently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93976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93976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1:25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057400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fixes we all share — rewrite &amp; read aloud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78608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 – 1:35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542032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moment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 – 2:05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3026664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toolbox — Python, pandas &amp; friends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47872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– 2:50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3511296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 · First contact (sheet Part A)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D8CFC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3250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2:50 – 3:00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3995928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17136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517136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3:20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4480560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II · The validation script (sheet Part B)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01768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001768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3:20 – 3:35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4965192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clinic — RA 10173 &amp; the lawful basis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5C101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486400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3:35 – 4:35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40280" y="5449824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STUDIO — your slice, your package (Part C)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971032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971032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4:35 – 4:50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5934456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6455664"/>
            <a:ext cx="1463040" cy="356616"/>
          </a:xfrm>
          <a:prstGeom prst="roundRect">
            <a:avLst>
              <a:gd name="adj" fmla="val 30769"/>
            </a:avLst>
          </a:prstGeom>
          <a:solidFill>
            <a:srgbClr val="A6192E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6455664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4:55 – 5:00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40280" y="6419088"/>
            <a:ext cx="6675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— one finding aloud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778240" y="1572768"/>
            <a:ext cx="2862072" cy="2651760"/>
          </a:xfrm>
          <a:prstGeom prst="roundRect">
            <a:avLst>
              <a:gd name="adj" fmla="val 2759"/>
            </a:avLst>
          </a:prstGeom>
          <a:solidFill>
            <a:srgbClr val="FBF1F2"/>
          </a:solidFill>
          <a:ln/>
        </p:spPr>
      </p:sp>
      <p:sp>
        <p:nvSpPr>
          <p:cNvPr id="39" name="Shape 37"/>
          <p:cNvSpPr/>
          <p:nvPr/>
        </p:nvSpPr>
        <p:spPr>
          <a:xfrm>
            <a:off x="9052560" y="1828800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3319" y="1959559"/>
            <a:ext cx="241402" cy="241402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9052560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Colab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9052560" y="281635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sheet is your record; Colab is your workbench. Code runs in the notebook, reasoning lands in pen. Part C of the sheet IS your P2.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· P1 COMES BACK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your folder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46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repo folder → p1-problem-framing → FEEDBACK.md.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4688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silently, twice. First pass: the score. Second pass: the two fixes.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461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(mentally) the ONE sentence in your feedback you want to argue with — we will use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410712" cy="2377440"/>
          </a:xfrm>
          <a:prstGeom prst="roundRect">
            <a:avLst>
              <a:gd name="adj" fmla="val 3077"/>
            </a:avLst>
          </a:prstGeom>
          <a:solidFill>
            <a:srgbClr val="5C101D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874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 rubric score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03920" y="22860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Exemplary · 3 Proficient · 2 Developing · 1 Beginning. P1 sits inside your Prelim lab component — and the portfolio policy means it is REVISED, not finished. Your case report grows from this canvas; every fix pays twice.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BF1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805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what the three canvases PROVED: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named a real baseline to beat  ·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named the unit in row language (“product-year,” “branch-month”)  ·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tied the horizon to the decision's timing.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the three hardest ideas in framing, reproduced under time pressure, one week after meeting them. The gaps we fix next are smaller than what you already hold.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· COLLECTIVE FIX 1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all asked questions. Deciders need decisions.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5F4F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field 1s look like this:  </a:t>
            </a:r>
            <a:pPr indent="0" marL="0">
              <a:buNone/>
            </a:pPr>
            <a:r>
              <a:rPr lang="en-US" sz="160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will X be next month/year?”</a:t>
            </a:r>
            <a:pPr indent="0" marL="0">
              <a:buNone/>
            </a:pPr>
            <a:r>
              <a:rPr lang="en-US" sz="1400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true topics, no owner, no action.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5C101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27248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sentence-frame that fixes it: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493008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“Each ⟨period⟩, ⟨my reader⟩ must decide ⟨action⟩.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decide well, they need to know ⟨prediction⟩ in advance.”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BF1F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63440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60 seconds, in pen: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YOUR field 1 through the frame. Then each of you reads yours aloud. The test stays the same as the Studio: would your named reader act — or shrug?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· COLLECTIVE FIX 2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both ways. Then call the worse one.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named at least one error direction. Nobody priced both and made the call. Field 10 is not finished until it looks like this: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FBF1F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50592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(over-predict)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57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acting-when-you-shouldn't cost?  Idle staff-hours · wasted discount · over-ordered stock → spoilage.  Estimate it in pesos.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7304" y="2286000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F5F4F4"/>
          </a:solidFill>
          <a:ln/>
        </p:spPr>
      </p:sp>
      <p:sp>
        <p:nvSpPr>
          <p:cNvPr id="10" name="Text 8"/>
          <p:cNvSpPr/>
          <p:nvPr/>
        </p:nvSpPr>
        <p:spPr>
          <a:xfrm>
            <a:off x="4565904" y="2450592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(under-predict)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65904" y="2926080"/>
            <a:ext cx="3057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not-acting-when-you-should cost?  Stockout day · lost sales · a persuadable customer never reached.  Estimate it in pesos.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2286000"/>
            <a:ext cx="3514344" cy="2286000"/>
          </a:xfrm>
          <a:prstGeom prst="roundRect">
            <a:avLst>
              <a:gd name="adj" fmla="val 3200"/>
            </a:avLst>
          </a:prstGeom>
          <a:solidFill>
            <a:srgbClr val="F3E3C0"/>
          </a:solidFill>
          <a:ln/>
        </p:spPr>
      </p:sp>
      <p:sp>
        <p:nvSpPr>
          <p:cNvPr id="13" name="Text 11"/>
          <p:cNvSpPr/>
          <p:nvPr/>
        </p:nvSpPr>
        <p:spPr>
          <a:xfrm>
            <a:off x="8354568" y="2450592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4568" y="2926080"/>
            <a:ext cx="30571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worse — and by roughly how much? That ratio DESIGNS the model: it decides whether you lean high, lean low, or aim center.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5C101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46320"/>
            <a:ext cx="10451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from one of YOUR canvases: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OPS canvas promises to cut stockouts by 15% — and then costs only over-prediction. But a stockout IS the cost of under-predicting. Lawrence: walk us through closing your own loop. (Everyone else — find the same gap in yours; two of you have it.)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 · THE GRAIN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beautiful frame the data cannot feed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858000" cy="2286000"/>
          </a:xfrm>
          <a:prstGeom prst="roundRect">
            <a:avLst>
              <a:gd name="adj" fmla="val 3200"/>
            </a:avLst>
          </a:prstGeom>
          <a:solidFill>
            <a:srgbClr val="FBF1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unit-of-analysis in the class: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“Product-year: one row of the total revenue of a product for a year.”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Crisp. Named. Correct in form. And with ~18 months of Kape Tayo history, it yields roughly ONE ROW PER PRODUCT. A model cannot learn from one row. This is Case 3 — “right and useless” — discovered honestly, in our own classroom.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1691640"/>
            <a:ext cx="3959352" cy="2286000"/>
          </a:xfrm>
          <a:prstGeom prst="roundRect">
            <a:avLst>
              <a:gd name="adj" fmla="val 3200"/>
            </a:avLst>
          </a:prstGeom>
          <a:solidFill>
            <a:srgbClr val="5C101D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874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repair costs one word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0" y="228600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product-year → product-month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decision, same reader, same action — and ~18 rows per product instead of one. Feasibility is part of framing, not an afterthought.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3E3C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519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mantra of today's labs: </a:t>
            </a:r>
            <a:pPr indent="0" marL="0">
              <a:buNone/>
            </a:pPr>
            <a:r>
              <a:rPr lang="en-US" sz="1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canvas, one grain — and in the next hour, every one of you COUNTS your own rows. No more estimating.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C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 · THE TOOLBOX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names, one workshop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Colab · NumPy · pandas · matplotlib · scikit-learn · statsmodels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live at ONE station. The rest you only need to recognize — for now.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memorizes syntax in this course. We read code, adapt it, and verify 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 ·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workshop, from the floor up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F5F4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60020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statistician's bench — classical tests, time series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555480" y="1728216"/>
            <a:ext cx="1234440" cy="365760"/>
          </a:xfrm>
          <a:prstGeom prst="roundRect">
            <a:avLst>
              <a:gd name="adj" fmla="val 30000"/>
            </a:avLst>
          </a:prstGeom>
          <a:solidFill>
            <a:srgbClr val="B5A8A8"/>
          </a:solidFill>
          <a:ln/>
        </p:spPr>
      </p:sp>
      <p:sp>
        <p:nvSpPr>
          <p:cNvPr id="9" name="Text 7"/>
          <p:cNvSpPr/>
          <p:nvPr/>
        </p:nvSpPr>
        <p:spPr>
          <a:xfrm>
            <a:off x="9555480" y="17282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F5F4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677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26771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modeling workshop — fit &amp; predict, pipelines that stop leakage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55480" y="2395728"/>
            <a:ext cx="1234440" cy="365760"/>
          </a:xfrm>
          <a:prstGeom prst="roundRect">
            <a:avLst>
              <a:gd name="adj" fmla="val 30000"/>
            </a:avLst>
          </a:prstGeom>
          <a:solidFill>
            <a:srgbClr val="B5A8A8"/>
          </a:solidFill>
          <a:ln/>
        </p:spPr>
      </p:sp>
      <p:sp>
        <p:nvSpPr>
          <p:cNvPr id="14" name="Text 12"/>
          <p:cNvSpPr/>
          <p:nvPr/>
        </p:nvSpPr>
        <p:spPr>
          <a:xfrm>
            <a:off x="9555480" y="2395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F5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3522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935224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eyes — charts drawn by code, reproducible by nature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55480" y="3063240"/>
            <a:ext cx="1234440" cy="365760"/>
          </a:xfrm>
          <a:prstGeom prst="roundRect">
            <a:avLst>
              <a:gd name="adj" fmla="val 30000"/>
            </a:avLst>
          </a:prstGeom>
          <a:solidFill>
            <a:srgbClr val="B5A8A8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3063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02736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F3E3C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027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the DataFrame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60273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station — load, inspect, clean, group, join. P2 and P3 live here.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55480" y="3730752"/>
            <a:ext cx="12344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24" name="Text 22"/>
          <p:cNvSpPr/>
          <p:nvPr/>
        </p:nvSpPr>
        <p:spPr>
          <a:xfrm>
            <a:off x="9555480" y="37307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70248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F5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7024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66160" y="427024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under the floorboards — fast arrays everything stands 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555480" y="4398264"/>
            <a:ext cx="1234440" cy="365760"/>
          </a:xfrm>
          <a:prstGeom prst="roundRect">
            <a:avLst>
              <a:gd name="adj" fmla="val 30000"/>
            </a:avLst>
          </a:prstGeom>
          <a:solidFill>
            <a:srgbClr val="B5A8A8"/>
          </a:solidFill>
          <a:ln/>
        </p:spPr>
      </p:sp>
      <p:sp>
        <p:nvSpPr>
          <p:cNvPr id="29" name="Text 27"/>
          <p:cNvSpPr/>
          <p:nvPr/>
        </p:nvSpPr>
        <p:spPr>
          <a:xfrm>
            <a:off x="9555480" y="43982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F3E3C0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9377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(Jupyter)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66160" y="493776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workbench — cells, outputs, "restart &amp; Run all" as the honesty test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555480" y="5065776"/>
            <a:ext cx="1234440" cy="365760"/>
          </a:xfrm>
          <a:prstGeom prst="roundRect">
            <a:avLst>
              <a:gd name="adj" fmla="val 30000"/>
            </a:avLst>
          </a:prstGeom>
          <a:solidFill>
            <a:srgbClr val="A6192E"/>
          </a:solidFill>
          <a:ln/>
        </p:spPr>
      </p:sp>
      <p:sp>
        <p:nvSpPr>
          <p:cNvPr id="34" name="Text 32"/>
          <p:cNvSpPr/>
          <p:nvPr/>
        </p:nvSpPr>
        <p:spPr>
          <a:xfrm>
            <a:off x="9555480" y="50657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605272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FBF1F2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60527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566160" y="560527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electricity — variables, lists, functions, imports (your bridging module)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555480" y="5733288"/>
            <a:ext cx="1234440" cy="365760"/>
          </a:xfrm>
          <a:prstGeom prst="roundRect">
            <a:avLst>
              <a:gd name="adj" fmla="val 30000"/>
            </a:avLst>
          </a:prstGeom>
          <a:solidFill>
            <a:srgbClr val="2E6B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55480" y="57332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927080" y="1600200"/>
            <a:ext cx="713232" cy="4626864"/>
          </a:xfrm>
          <a:prstGeom prst="roundRect">
            <a:avLst>
              <a:gd name="adj" fmla="val 10256"/>
            </a:avLst>
          </a:prstGeom>
          <a:solidFill>
            <a:srgbClr val="5C101D"/>
          </a:solidFill>
          <a:ln/>
        </p:spPr>
      </p:sp>
      <p:sp>
        <p:nvSpPr>
          <p:cNvPr id="41" name="Text 39"/>
          <p:cNvSpPr/>
          <p:nvPr/>
        </p:nvSpPr>
        <p:spPr>
          <a:xfrm rot="5400000">
            <a:off x="8970264" y="3557016"/>
            <a:ext cx="4626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I L T   O N   E A C H   O T H E 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 · PANDAS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DataFrame — a table with a memory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14344" cy="2514600"/>
          </a:xfrm>
          <a:prstGeom prst="roundRect">
            <a:avLst>
              <a:gd name="adj" fmla="val 2909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01952"/>
            <a:ext cx="512064" cy="512064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203508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named columns + an index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alone = a Series. If you can read a sheet, you can read a DataFrame — but every change is written down as code.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7304" y="1645920"/>
            <a:ext cx="3514344" cy="2514600"/>
          </a:xfrm>
          <a:prstGeom prst="roundRect">
            <a:avLst>
              <a:gd name="adj" fmla="val 2909"/>
            </a:avLst>
          </a:prstGeom>
          <a:solidFill>
            <a:srgbClr val="F5F4F4"/>
          </a:solidFill>
          <a:ln/>
        </p:spPr>
      </p:sp>
      <p:sp>
        <p:nvSpPr>
          <p:cNvPr id="11" name="Shape 8"/>
          <p:cNvSpPr/>
          <p:nvPr/>
        </p:nvSpPr>
        <p:spPr>
          <a:xfrm>
            <a:off x="4593336" y="1901952"/>
            <a:ext cx="512064" cy="512064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73" y="20350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5904" y="2560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has a dtype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65904" y="31546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stored as text cannot be summed; dates stored as text cannot be sorted. df.info() first, trust later. Dtypes are where data lies.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25968" y="1645920"/>
            <a:ext cx="3514344" cy="2514600"/>
          </a:xfrm>
          <a:prstGeom prst="roundRect">
            <a:avLst>
              <a:gd name="adj" fmla="val 2909"/>
            </a:avLst>
          </a:prstGeom>
          <a:solidFill>
            <a:srgbClr val="FBF1F2"/>
          </a:solidFill>
          <a:ln/>
        </p:spPr>
      </p:sp>
      <p:sp>
        <p:nvSpPr>
          <p:cNvPr id="16" name="Shape 12"/>
          <p:cNvSpPr/>
          <p:nvPr/>
        </p:nvSpPr>
        <p:spPr>
          <a:xfrm>
            <a:off x="8382000" y="1901952"/>
            <a:ext cx="512064" cy="512064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137" y="2035089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4568" y="2560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honest: NaN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54568" y="31546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hole. WHY it is missing is information; what you do about it goes in the cleaning log. No silent deletions — provenance is a gate.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3891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handshake — the first four lines on ANY new dataset: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4754880"/>
            <a:ext cx="7498080" cy="1226959"/>
          </a:xfrm>
          <a:prstGeom prst="roundRect">
            <a:avLst>
              <a:gd name="adj" fmla="val 5962"/>
            </a:avLst>
          </a:prstGeom>
          <a:solidFill>
            <a:srgbClr val="2E2A2B"/>
          </a:solidFill>
          <a:ln/>
        </p:spPr>
      </p:sp>
      <p:sp>
        <p:nvSpPr>
          <p:cNvPr id="22" name="Text 17"/>
          <p:cNvSpPr/>
          <p:nvPr/>
        </p:nvSpPr>
        <p:spPr>
          <a:xfrm>
            <a:off x="777240" y="4828032"/>
            <a:ext cx="7040880" cy="1080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pd.read_csv("kape_tayo_sales.csv")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sales.info()      # dtypes, missing, row count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sales.head(10)    # look before you trust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229600" y="4754880"/>
            <a:ext cx="3410712" cy="1371600"/>
          </a:xfrm>
          <a:prstGeom prst="roundRect">
            <a:avLst>
              <a:gd name="adj" fmla="val 5333"/>
            </a:avLst>
          </a:prstGeom>
          <a:solidFill>
            <a:srgbClr val="5C101D"/>
          </a:solidFill>
          <a:ln/>
        </p:spPr>
      </p:sp>
      <p:sp>
        <p:nvSpPr>
          <p:cNvPr id="24" name="Text 19"/>
          <p:cNvSpPr/>
          <p:nvPr/>
        </p:nvSpPr>
        <p:spPr>
          <a:xfrm>
            <a:off x="8503920" y="48920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model what you have not looked at. The handshake is a professional habit, not a formality.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 · PANDAS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verbs — you already know them in SQL-thought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056632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want to…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idea in 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rows meeting a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df[df["branch"] == "Biñan"]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df.groupby("branch")["amount"].sum()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+ 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two tables on a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pd.merge(sales, branches, on="branch_id")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df.sort_values("date")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df[["date", "amount"]]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5C101D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93776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two is diagnostic Q8 — “total amount per branch” — the exact query none of us could write three weeks ago.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twenty minutes you run it on real data. The concepts were never missing; only the spelling was.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 · 2:05 – 2:50 · SHEET PART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contact — everyone types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01952"/>
            <a:ext cx="548640" cy="438912"/>
          </a:xfrm>
          <a:prstGeom prst="roundRect">
            <a:avLst>
              <a:gd name="adj" fmla="val 25000"/>
            </a:avLst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0195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shake hands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89120" y="171907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 → info() → head(10). Record rows, columns, and three surprises.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41080" y="1920240"/>
            <a:ext cx="411480" cy="384048"/>
          </a:xfrm>
          <a:prstGeom prst="roundRect">
            <a:avLst>
              <a:gd name="adj" fmla="val 28571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19202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5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980944"/>
            <a:ext cx="548640" cy="438912"/>
          </a:xfrm>
          <a:prstGeom prst="roundRect">
            <a:avLst>
              <a:gd name="adj" fmla="val 25000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8094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8163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dtype hunt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9120" y="279806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column whose dtype is WRONG for what it holds — and say what it silently breaks.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41080" y="2999232"/>
            <a:ext cx="411480" cy="384048"/>
          </a:xfrm>
          <a:prstGeom prst="roundRect">
            <a:avLst>
              <a:gd name="adj" fmla="val 28571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9992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03904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BF1F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59936"/>
            <a:ext cx="548640" cy="438912"/>
          </a:xfrm>
          <a:prstGeom prst="roundRect">
            <a:avLst>
              <a:gd name="adj" fmla="val 25000"/>
            </a:avLst>
          </a:prstGeom>
          <a:solidFill>
            <a:srgbClr val="A619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5993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89534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Q8, at last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89120" y="3877056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branch → sum amount → sort. Which branch leads? Does it match your intuition?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41080" y="4078224"/>
            <a:ext cx="411480" cy="384048"/>
          </a:xfrm>
          <a:prstGeom prst="roundRect">
            <a:avLst>
              <a:gd name="adj" fmla="val 28571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40782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5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5138928"/>
            <a:ext cx="548640" cy="438912"/>
          </a:xfrm>
          <a:prstGeom prst="roundRect">
            <a:avLst>
              <a:gd name="adj" fmla="val 25000"/>
            </a:avLst>
          </a:prstGeom>
          <a:solidFill>
            <a:srgbClr val="A6192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13892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97433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&amp; the first orphans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89120" y="495604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sales ↔ branches; compare row counts before and after. Vanished rows = orphan keys.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41080" y="5157216"/>
            <a:ext cx="411480" cy="384048"/>
          </a:xfrm>
          <a:prstGeom prst="roundRect">
            <a:avLst>
              <a:gd name="adj" fmla="val 28571"/>
            </a:avLst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8641080" y="51572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72600" y="1645920"/>
            <a:ext cx="2267712" cy="4114800"/>
          </a:xfrm>
          <a:prstGeom prst="roundRect">
            <a:avLst>
              <a:gd name="adj" fmla="val 3226"/>
            </a:avLst>
          </a:prstGeom>
          <a:solidFill>
            <a:srgbClr val="5C101D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style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0" y="224028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don't paste.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Errors: read the message bottom-up, then ask.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on the sheet are placeholders — df.info() tells you the truth.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II · 3:00 – 3:20 · SHEET PART 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validation script — five checks, one function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BF1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16459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column the dtype it claims?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5F4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957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Completeness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3957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NaNs — and why?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BF1F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4553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Uniqueness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1455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 where IDs must be unique?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5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953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Range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895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amounts? Dates from the future?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451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FBF1F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451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Referential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97480" y="46451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pointing at parents that don't exist — the orphans from A4, formalized.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645920"/>
            <a:ext cx="5239512" cy="1891977"/>
          </a:xfrm>
          <a:prstGeom prst="roundRect">
            <a:avLst>
              <a:gd name="adj" fmla="val 3866"/>
            </a:avLst>
          </a:prstGeom>
          <a:solidFill>
            <a:srgbClr val="2E2A2B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719072"/>
            <a:ext cx="4782312" cy="1745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validate(df, name):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print(f"=== {name} ===")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print("rows:", len(df))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print(df.dtypes)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print(df.isna().sum())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print("dupes:", df["id"].duplicated().sum())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print("neg:", (df["amount"] &lt; 0).sum())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4069080"/>
            <a:ext cx="5239512" cy="1371600"/>
          </a:xfrm>
          <a:prstGeom prst="roundRect">
            <a:avLst>
              <a:gd name="adj" fmla="val 5333"/>
            </a:avLst>
          </a:prstGeom>
          <a:solidFill>
            <a:srgbClr val="F3E3C0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1605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files are imperfect ON PURPOSE. 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function finds is the graded point of P2, not a distraction from it. Your findings go in the log — with the decision AND the reason.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5C101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 as their BDAT04 morning: finding what is wrong with the data is the first milestone, in both courses, because it is the first job in every real one.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3:20 · PRIVACY CLINIC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 10173 — fifteen minutes that protect the whole term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14344" cy="3200400"/>
          </a:xfrm>
          <a:prstGeom prst="roundRect">
            <a:avLst>
              <a:gd name="adj" fmla="val 2286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47672"/>
            <a:ext cx="512064" cy="512064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208080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93392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651760"/>
            <a:ext cx="3002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is processed only with a LAWFUL BASIS — consent, contract, legitimate interest — and only as much as the purpose needs. Aggregation is your best friend: branch-month totals identify no 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7304" y="1691640"/>
            <a:ext cx="3514344" cy="3200400"/>
          </a:xfrm>
          <a:prstGeom prst="roundRect">
            <a:avLst>
              <a:gd name="adj" fmla="val 2286"/>
            </a:avLst>
          </a:prstGeom>
          <a:solidFill>
            <a:srgbClr val="F3E3C0"/>
          </a:solidFill>
          <a:ln/>
        </p:spPr>
      </p:sp>
      <p:sp>
        <p:nvSpPr>
          <p:cNvPr id="11" name="Shape 8"/>
          <p:cNvSpPr/>
          <p:nvPr/>
        </p:nvSpPr>
        <p:spPr>
          <a:xfrm>
            <a:off x="4593336" y="1947672"/>
            <a:ext cx="512064" cy="512064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73" y="208080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1704" y="1993392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93336" y="2651760"/>
            <a:ext cx="3002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aggregates: no personal data. Customer records: personal — consent &amp; de-identification. Employee records: SENSITIVE BY DEFAULT — the highest bar in this course, and one of you works there.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5968" y="1691640"/>
            <a:ext cx="3514344" cy="3200400"/>
          </a:xfrm>
          <a:prstGeom prst="roundRect">
            <a:avLst>
              <a:gd name="adj" fmla="val 2286"/>
            </a:avLst>
          </a:prstGeom>
          <a:solidFill>
            <a:srgbClr val="FBF1F2"/>
          </a:solidFill>
          <a:ln/>
        </p:spPr>
      </p:sp>
      <p:sp>
        <p:nvSpPr>
          <p:cNvPr id="16" name="Shape 12"/>
          <p:cNvSpPr/>
          <p:nvPr/>
        </p:nvSpPr>
        <p:spPr>
          <a:xfrm>
            <a:off x="8382000" y="1947672"/>
            <a:ext cx="512064" cy="512064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137" y="2080809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40368" y="1993392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82000" y="2651760"/>
            <a:ext cx="3002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P2 carries a lawful basis statement, 3–5 sentences: what data, does it identify anyone, why the aggregation protects it — or the basis, the de-identification, and who may see it.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5C101D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516636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Angus — your track carries the weight today: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workforce slice touches employee data. Your lawful-basis paragraph is the exemplar the class reads; no individual appears in any output, ever. The Target case from Session 2 is the cautionary tale behind all of this.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C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3:35 – 4:35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P2 Studio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minutes. Your grain, your files, your package.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your P1 promised gets built, counted, doubted, and documented.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dies today.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slices — your canvas, made physical</a:t>
            </a:r>
            <a:endParaRPr lang="en-US" sz="2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754880"/>
                <a:gridCol w="40507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P1 thread it closes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Anthonne · 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Branch-month REVENUE (sales + branches, month from date)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4 made real — and the monthly/weekly wobble ends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Eliah · P5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Product-month REVENUE (sales + products)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grain fix executed — count product-year vs product-month rows, feel the difference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Angus · P6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Branch-month WORKFORCE — headcount &amp; avg tenure (employees + calendar)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 P1 seed, built under the strictest data discipline in the 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Lawrence · P7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Branch-month ORDER COUNTS (sales + calendar)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4 exactly — verify the ~108 rows for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BF1F2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828032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all four, same steps (sheet Part C):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2120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build &amp; COUNT your rows  →  C2 data dictionary  →  C3 validate &amp; log (≥3 findings: issue → decision → reason)  →  C4 lawful basis statement  →  C5 package &amp; commit. Restart &amp; Run-all before every commit — Gate 1 starts being real today.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4:35 · COMMIT — THEN ONE FINDING ALOUD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it, then say it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+ dictionary + validation findings + cleaning log + lawful basis → &lt;your-folder&gt;/p2-data-preparation/.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514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data: Drive link in the folder README. Never a committed CSV — the .gitignore will fight you, and it is right.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3375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message: “P2: &lt;surname&gt; — slice, dictionary, validation v1”. Freeze at 5:00; copy-editing until 11:59 tonight.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3920" y="1691640"/>
            <a:ext cx="3136392" cy="2377440"/>
          </a:xfrm>
          <a:prstGeom prst="roundRect">
            <a:avLst>
              <a:gd name="adj" fmla="val 3077"/>
            </a:avLst>
          </a:prstGeom>
          <a:solidFill>
            <a:srgbClr val="5C101D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ritual, 4:55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778240" y="228600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you reads ONE validation finding aloud — “the most interesting thing wrong with my data.” The best finding wins nothing except being right, which is everything.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720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preview — the interrogation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956048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Saturday your cleaned slice meets EDA: distributions, imbalance, base rates, and the leakage audit (P3). The charts arrive — matplotlib steps up from the toolbox map. Bridging module officially closes this week; consults as scheduled.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C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Session 3 · Week 3 ·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real now.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are its problems. Good.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 ago: twelve scenarios on paper. Last week: a decision framed in pen. Today: a real table, its real flaws, and your name on the commit that documented them honestly.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commit history is the portfolio. It is already being built.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Jerald B. Bongalos  ·  BDAT05 — Fundamentals of Predictive Analytics  ·  LPU–Laguna CBA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BDAT05 Session 3 — First Contact</dc:title>
  <dc:subject>PptxGenJS Presentation</dc:subject>
  <dc:creator>Jerald B. Bongalos</dc:creator>
  <cp:lastModifiedBy>Jerald B. Bongalos</cp:lastModifiedBy>
  <cp:revision>1</cp:revision>
  <dcterms:created xsi:type="dcterms:W3CDTF">2026-08-27T04:44:19Z</dcterms:created>
  <dcterms:modified xsi:type="dcterms:W3CDTF">2026-08-27T04:44:19Z</dcterms:modified>
</cp:coreProperties>
</file>